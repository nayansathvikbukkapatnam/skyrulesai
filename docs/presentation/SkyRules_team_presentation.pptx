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59" r:id="rId11"/>
    <p:sldId id="266" r:id="rId12"/>
    <p:sldId id="267" r:id="rId13"/>
    <p:sldId id="269" r:id="rId14"/>
    <p:sldId id="279" r:id="rId15"/>
    <p:sldId id="270" r:id="rId16"/>
    <p:sldId id="271" r:id="rId17"/>
    <p:sldId id="280" r:id="rId1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2"/>
  </p:normalViewPr>
  <p:slideViewPr>
    <p:cSldViewPr snapToGrid="0" snapToObjects="1">
      <p:cViewPr varScale="1">
        <p:scale>
          <a:sx n="169" d="100"/>
          <a:sy n="169" d="100"/>
        </p:scale>
        <p:origin x="19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Documents</c:v>
                </c:pt>
              </c:strCache>
            </c:strRef>
          </c:tx>
          <c:spPr>
            <a:solidFill>
              <a:srgbClr val="2F6FB5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B1F3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14 CFR sections</c:v>
                </c:pt>
                <c:pt idx="1">
                  <c:v>Know Before You Fly</c:v>
                </c:pt>
                <c:pt idx="2">
                  <c:v>Rule PDFs</c:v>
                </c:pt>
                <c:pt idx="3">
                  <c:v>Federal Register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</c:v>
                </c:pt>
                <c:pt idx="1">
                  <c:v>33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5E-1848-81A9-7B30AB74F36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B6B82"/>
            </a:solidFill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0B1F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Chunks</c:v>
                </c:pt>
              </c:strCache>
            </c:strRef>
          </c:tx>
          <c:spPr>
            <a:solidFill>
              <a:srgbClr val="D9480F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B1F3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Fixed size</c:v>
                </c:pt>
                <c:pt idx="1">
                  <c:v>Structure-aware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3656</c:v>
                </c:pt>
                <c:pt idx="1">
                  <c:v>4905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65E-DC42-83EF-33CDAFE87DC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B6B82"/>
            </a:solidFill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0B1F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Correctness on dev</c:v>
                </c:pt>
              </c:strCache>
            </c:strRef>
          </c:tx>
          <c:spPr>
            <a:solidFill>
              <a:srgbClr val="D9480F"/>
            </a:solidFill>
          </c:spPr>
          <c:invertIfNegative val="1"/>
          <c:dPt>
            <c:idx val="6"/>
            <c:invertIfNegative val="1"/>
            <c:bubble3D val="0"/>
            <c:spPr>
              <a:solidFill>
                <a:srgbClr val="0B1F3A"/>
              </a:solidFill>
            </c:spPr>
            <c:extLst>
              <c:ext xmlns:c16="http://schemas.microsoft.com/office/drawing/2014/chart" uri="{C3380CC4-5D6E-409C-BE32-E72D297353CC}">
                <c16:uniqueId val="{00000001-261D-8449-B827-8D3BB31D23C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0.48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C27F-944A-8235-5A6E1916757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0.68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27F-944A-8235-5A6E1916757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C27F-944A-8235-5A6E1916757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0.74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27F-944A-8235-5A6E1916757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C27F-944A-8235-5A6E1916757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0.76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27F-944A-8235-5A6E1916757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0.72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61D-8449-B827-8D3BB31D23C4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B1F3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B0 closed-book</c:v>
                </c:pt>
                <c:pt idx="1">
                  <c:v>B1 BM25</c:v>
                </c:pt>
                <c:pt idx="2">
                  <c:v>B2 dense, fixed</c:v>
                </c:pt>
                <c:pt idx="3">
                  <c:v>A1 + structure chunks</c:v>
                </c:pt>
                <c:pt idx="4">
                  <c:v>A2 + hybrid search</c:v>
                </c:pt>
                <c:pt idx="5">
                  <c:v>A3 + reranker</c:v>
                </c:pt>
                <c:pt idx="6">
                  <c:v>B3 + gate and checks</c:v>
                </c:pt>
              </c:strCache>
            </c:strRef>
          </c:cat>
          <c:val>
            <c:numRef>
              <c:f>Sheet1!$B$2:$B$8</c:f>
              <c:numCache>
                <c:formatCode>0.00</c:formatCode>
                <c:ptCount val="7"/>
                <c:pt idx="0">
                  <c:v>0.53</c:v>
                </c:pt>
                <c:pt idx="1">
                  <c:v>0.7</c:v>
                </c:pt>
                <c:pt idx="2">
                  <c:v>0.73</c:v>
                </c:pt>
                <c:pt idx="3">
                  <c:v>0.63</c:v>
                </c:pt>
                <c:pt idx="4">
                  <c:v>0.7</c:v>
                </c:pt>
                <c:pt idx="5">
                  <c:v>0.77</c:v>
                </c:pt>
                <c:pt idx="6">
                  <c:v>0.77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61D-8449-B827-8D3BB31D23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B6B82"/>
            </a:solidFill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t"/>
        <c:numFmt formatCode="0.00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0B1F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D9480F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B1F3A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Single-hop</c:v>
                </c:pt>
                <c:pt idx="1">
                  <c:v>Multi-hop</c:v>
                </c:pt>
                <c:pt idx="2">
                  <c:v>Comparative</c:v>
                </c:pt>
                <c:pt idx="3">
                  <c:v>Temporal</c:v>
                </c:pt>
                <c:pt idx="4">
                  <c:v>Unanswerable</c:v>
                </c:pt>
                <c:pt idx="5">
                  <c:v>Ambiguous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7</c:v>
                </c:pt>
                <c:pt idx="2">
                  <c:v>5</c:v>
                </c:pt>
                <c:pt idx="3">
                  <c:v>5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CA0-D740-A231-67E184B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5B6B82"/>
            </a:solidFill>
          </a:ln>
        </c:spPr>
        <c:txPr>
          <a:bodyPr/>
          <a:lstStyle/>
          <a:p>
            <a:pPr>
              <a:defRPr sz="1200">
                <a:solidFill>
                  <a:srgbClr val="0B1F3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solidFill>
            <a:srgbClr val="0B1F3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539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51560"/>
            <a:ext cx="5486400" cy="822960"/>
          </a:xfrm>
        </p:spPr>
        <p:txBody>
          <a:bodyPr lIns="0" tIns="0" anchor="ctr"/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SkyRules AI</a:t>
            </a:r>
          </a:p>
        </p:txBody>
      </p:sp>
      <p:sp>
        <p:nvSpPr>
          <p:cNvPr id="3" name="ring"/>
          <p:cNvSpPr/>
          <p:nvPr/>
        </p:nvSpPr>
        <p:spPr>
          <a:xfrm>
            <a:off x="5669280" y="1005839"/>
            <a:ext cx="3108960" cy="3108960"/>
          </a:xfrm>
          <a:prstGeom prst="ellipse">
            <a:avLst/>
          </a:prstGeom>
          <a:noFill/>
          <a:ln w="19050">
            <a:solidFill>
              <a:srgbClr val="8FB8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ng"/>
          <p:cNvSpPr/>
          <p:nvPr/>
        </p:nvSpPr>
        <p:spPr>
          <a:xfrm>
            <a:off x="6080760" y="1417319"/>
            <a:ext cx="2286000" cy="2286000"/>
          </a:xfrm>
          <a:prstGeom prst="ellipse">
            <a:avLst/>
          </a:prstGeom>
          <a:noFill/>
          <a:ln w="19050">
            <a:solidFill>
              <a:srgbClr val="8FB8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ng"/>
          <p:cNvSpPr/>
          <p:nvPr/>
        </p:nvSpPr>
        <p:spPr>
          <a:xfrm>
            <a:off x="6492240" y="1828799"/>
            <a:ext cx="1463040" cy="1463040"/>
          </a:xfrm>
          <a:prstGeom prst="ellipse">
            <a:avLst/>
          </a:prstGeom>
          <a:noFill/>
          <a:ln w="19050">
            <a:solidFill>
              <a:srgbClr val="D9480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rone marker circle"/>
          <p:cNvSpPr/>
          <p:nvPr/>
        </p:nvSpPr>
        <p:spPr>
          <a:xfrm>
            <a:off x="6949440" y="2286000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rone marker icon" descr="Drone on airspace r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627" y="2412187"/>
            <a:ext cx="296265" cy="296265"/>
          </a:xfrm>
          <a:prstGeom prst="rect">
            <a:avLst/>
          </a:prstGeom>
        </p:spPr>
      </p:pic>
      <p:sp>
        <p:nvSpPr>
          <p:cNvPr id="8" name="subtitle"/>
          <p:cNvSpPr txBox="1"/>
          <p:nvPr/>
        </p:nvSpPr>
        <p:spPr>
          <a:xfrm>
            <a:off x="548640" y="19202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8FB8E8"/>
                </a:solidFill>
              </a:rPr>
              <a:t>A cited, safe chatbot for U.S. drone rules</a:t>
            </a:r>
          </a:p>
        </p:txBody>
      </p:sp>
      <p:sp>
        <p:nvSpPr>
          <p:cNvPr id="9" name="team"/>
          <p:cNvSpPr txBox="1"/>
          <p:nvPr/>
        </p:nvSpPr>
        <p:spPr>
          <a:xfrm>
            <a:off x="548640" y="310896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</a:rPr>
              <a:t>Pavan  |  Dorai  |  Nayan  |  Sai  |  Adinath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</a:rPr>
              <a:t>MSAI 633 residency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A wrong answer with a real link looks verified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2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ard 1"/>
          <p:cNvSpPr/>
          <p:nvPr/>
        </p:nvSpPr>
        <p:spPr>
          <a:xfrm>
            <a:off x="457200" y="1280160"/>
            <a:ext cx="262128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 1 circle"/>
          <p:cNvSpPr/>
          <p:nvPr/>
        </p:nvSpPr>
        <p:spPr>
          <a:xfrm>
            <a:off x="594360" y="1417319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ard 1 icon" descr="Rules depend on who you 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543507"/>
            <a:ext cx="296265" cy="296265"/>
          </a:xfrm>
          <a:prstGeom prst="rect">
            <a:avLst/>
          </a:prstGeom>
        </p:spPr>
      </p:pic>
      <p:sp>
        <p:nvSpPr>
          <p:cNvPr id="9" name="card 1 title"/>
          <p:cNvSpPr txBox="1"/>
          <p:nvPr/>
        </p:nvSpPr>
        <p:spPr>
          <a:xfrm>
            <a:off x="59436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Rules depend on who you are</a:t>
            </a:r>
          </a:p>
        </p:txBody>
      </p:sp>
      <p:sp>
        <p:nvSpPr>
          <p:cNvPr id="10" name="card 1 text"/>
          <p:cNvSpPr txBox="1"/>
          <p:nvPr/>
        </p:nvSpPr>
        <p:spPr>
          <a:xfrm>
            <a:off x="594360" y="2606040"/>
            <a:ext cx="2346960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hobby flyer or Part 107 pilot</a:t>
            </a:r>
          </a:p>
        </p:txBody>
      </p:sp>
      <p:sp>
        <p:nvSpPr>
          <p:cNvPr id="11" name="card 2"/>
          <p:cNvSpPr/>
          <p:nvPr/>
        </p:nvSpPr>
        <p:spPr>
          <a:xfrm>
            <a:off x="3261360" y="1280160"/>
            <a:ext cx="262128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2 circle"/>
          <p:cNvSpPr/>
          <p:nvPr/>
        </p:nvSpPr>
        <p:spPr>
          <a:xfrm>
            <a:off x="3398520" y="14173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card 2 icon" descr="Airspace is local and l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707" y="1543507"/>
            <a:ext cx="296265" cy="296265"/>
          </a:xfrm>
          <a:prstGeom prst="rect">
            <a:avLst/>
          </a:prstGeom>
        </p:spPr>
      </p:pic>
      <p:sp>
        <p:nvSpPr>
          <p:cNvPr id="14" name="card 2 title"/>
          <p:cNvSpPr txBox="1"/>
          <p:nvPr/>
        </p:nvSpPr>
        <p:spPr>
          <a:xfrm>
            <a:off x="339852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Airspace is local and live</a:t>
            </a:r>
          </a:p>
        </p:txBody>
      </p:sp>
      <p:sp>
        <p:nvSpPr>
          <p:cNvPr id="15" name="card 2 text"/>
          <p:cNvSpPr txBox="1"/>
          <p:nvPr/>
        </p:nvSpPr>
        <p:spPr>
          <a:xfrm>
            <a:off x="3398520" y="2606040"/>
            <a:ext cx="2346960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TFRs and facilities change</a:t>
            </a:r>
          </a:p>
        </p:txBody>
      </p:sp>
      <p:sp>
        <p:nvSpPr>
          <p:cNvPr id="16" name="card 3"/>
          <p:cNvSpPr/>
          <p:nvPr/>
        </p:nvSpPr>
        <p:spPr>
          <a:xfrm>
            <a:off x="6065520" y="1280160"/>
            <a:ext cx="2621280" cy="178308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 3 circle"/>
          <p:cNvSpPr/>
          <p:nvPr/>
        </p:nvSpPr>
        <p:spPr>
          <a:xfrm>
            <a:off x="6202680" y="1417319"/>
            <a:ext cx="548640" cy="548640"/>
          </a:xfrm>
          <a:prstGeom prst="ellipse">
            <a:avLst/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card 3 icon" descr="Old pages look curr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867" y="1543507"/>
            <a:ext cx="296265" cy="296265"/>
          </a:xfrm>
          <a:prstGeom prst="rect">
            <a:avLst/>
          </a:prstGeom>
        </p:spPr>
      </p:pic>
      <p:sp>
        <p:nvSpPr>
          <p:cNvPr id="19" name="card 3 title"/>
          <p:cNvSpPr txBox="1"/>
          <p:nvPr/>
        </p:nvSpPr>
        <p:spPr>
          <a:xfrm>
            <a:off x="620268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Old pages look current</a:t>
            </a:r>
          </a:p>
        </p:txBody>
      </p:sp>
      <p:sp>
        <p:nvSpPr>
          <p:cNvPr id="20" name="card 3 text"/>
          <p:cNvSpPr txBox="1"/>
          <p:nvPr/>
        </p:nvSpPr>
        <p:spPr>
          <a:xfrm>
            <a:off x="6202680" y="2606040"/>
            <a:ext cx="2346960" cy="411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a real link, an old rule</a:t>
            </a:r>
          </a:p>
        </p:txBody>
      </p:sp>
      <p:sp>
        <p:nvSpPr>
          <p:cNvPr id="21" name="answer card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6153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nswer head"/>
          <p:cNvSpPr txBox="1"/>
          <p:nvPr/>
        </p:nvSpPr>
        <p:spPr>
          <a:xfrm>
            <a:off x="731520" y="336499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2B84B"/>
                </a:solidFill>
              </a:rPr>
              <a:t>SkyRules</a:t>
            </a:r>
          </a:p>
        </p:txBody>
      </p:sp>
      <p:sp>
        <p:nvSpPr>
          <p:cNvPr id="23" name="answer text"/>
          <p:cNvSpPr txBox="1"/>
          <p:nvPr/>
        </p:nvSpPr>
        <p:spPr>
          <a:xfrm>
            <a:off x="731520" y="3749039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answers only from official sources, cites every claim, refuses when unsure, and refers risky questions to the FAA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Five people, five owned parts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3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member card 1"/>
          <p:cNvSpPr/>
          <p:nvPr/>
        </p:nvSpPr>
        <p:spPr>
          <a:xfrm>
            <a:off x="457200" y="1234440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member dot 1"/>
          <p:cNvSpPr/>
          <p:nvPr/>
        </p:nvSpPr>
        <p:spPr>
          <a:xfrm>
            <a:off x="566928" y="1325880"/>
            <a:ext cx="393192" cy="393192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member name 1"/>
          <p:cNvSpPr txBox="1"/>
          <p:nvPr/>
        </p:nvSpPr>
        <p:spPr>
          <a:xfrm>
            <a:off x="1097280" y="1289304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Pavan</a:t>
            </a:r>
          </a:p>
        </p:txBody>
      </p:sp>
      <p:sp>
        <p:nvSpPr>
          <p:cNvPr id="9" name="member role 1"/>
          <p:cNvSpPr txBox="1"/>
          <p:nvPr/>
        </p:nvSpPr>
        <p:spPr>
          <a:xfrm>
            <a:off x="2468880" y="128930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F6FB5"/>
                </a:solidFill>
              </a:rPr>
              <a:t>Generation and app</a:t>
            </a:r>
          </a:p>
        </p:txBody>
      </p:sp>
      <p:sp>
        <p:nvSpPr>
          <p:cNvPr id="10" name="member owns 1"/>
          <p:cNvSpPr txBox="1"/>
          <p:nvPr/>
        </p:nvSpPr>
        <p:spPr>
          <a:xfrm>
            <a:off x="4663440" y="128930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LLM client, prompt, answer pipeline, server, UI</a:t>
            </a:r>
          </a:p>
        </p:txBody>
      </p:sp>
      <p:sp>
        <p:nvSpPr>
          <p:cNvPr id="11" name="member card 2"/>
          <p:cNvSpPr/>
          <p:nvPr/>
        </p:nvSpPr>
        <p:spPr>
          <a:xfrm>
            <a:off x="457200" y="1901952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member dot 2"/>
          <p:cNvSpPr/>
          <p:nvPr/>
        </p:nvSpPr>
        <p:spPr>
          <a:xfrm>
            <a:off x="566928" y="1993392"/>
            <a:ext cx="393192" cy="393192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member name 2"/>
          <p:cNvSpPr txBox="1"/>
          <p:nvPr/>
        </p:nvSpPr>
        <p:spPr>
          <a:xfrm>
            <a:off x="1097280" y="1956816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Dorai</a:t>
            </a:r>
          </a:p>
        </p:txBody>
      </p:sp>
      <p:sp>
        <p:nvSpPr>
          <p:cNvPr id="14" name="member role 2"/>
          <p:cNvSpPr txBox="1"/>
          <p:nvPr/>
        </p:nvSpPr>
        <p:spPr>
          <a:xfrm>
            <a:off x="2468880" y="1956816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D9480F"/>
                </a:solidFill>
              </a:rPr>
              <a:t>Evaluation and safety</a:t>
            </a:r>
          </a:p>
        </p:txBody>
      </p:sp>
      <p:sp>
        <p:nvSpPr>
          <p:cNvPr id="15" name="member owns 2"/>
          <p:cNvSpPr txBox="1"/>
          <p:nvPr/>
        </p:nvSpPr>
        <p:spPr>
          <a:xfrm>
            <a:off x="4663440" y="195681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golden set, split, router, ethics, demo</a:t>
            </a:r>
          </a:p>
        </p:txBody>
      </p:sp>
      <p:sp>
        <p:nvSpPr>
          <p:cNvPr id="16" name="member card 3"/>
          <p:cNvSpPr/>
          <p:nvPr/>
        </p:nvSpPr>
        <p:spPr>
          <a:xfrm>
            <a:off x="457200" y="2569464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member dot 3"/>
          <p:cNvSpPr/>
          <p:nvPr/>
        </p:nvSpPr>
        <p:spPr>
          <a:xfrm>
            <a:off x="566928" y="2660904"/>
            <a:ext cx="393192" cy="393192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member name 3"/>
          <p:cNvSpPr txBox="1"/>
          <p:nvPr/>
        </p:nvSpPr>
        <p:spPr>
          <a:xfrm>
            <a:off x="1097280" y="2624328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Nayan</a:t>
            </a:r>
          </a:p>
        </p:txBody>
      </p:sp>
      <p:sp>
        <p:nvSpPr>
          <p:cNvPr id="19" name="member role 3"/>
          <p:cNvSpPr txBox="1"/>
          <p:nvPr/>
        </p:nvSpPr>
        <p:spPr>
          <a:xfrm>
            <a:off x="2468880" y="262432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</a:rPr>
              <a:t>Index and engineering</a:t>
            </a:r>
          </a:p>
        </p:txBody>
      </p:sp>
      <p:sp>
        <p:nvSpPr>
          <p:cNvPr id="20" name="member owns 3"/>
          <p:cNvSpPr txBox="1"/>
          <p:nvPr/>
        </p:nvSpPr>
        <p:spPr>
          <a:xfrm>
            <a:off x="4663440" y="2624328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embeddings, Chroma, migration, CI</a:t>
            </a:r>
          </a:p>
        </p:txBody>
      </p:sp>
      <p:sp>
        <p:nvSpPr>
          <p:cNvPr id="21" name="member card 4"/>
          <p:cNvSpPr/>
          <p:nvPr/>
        </p:nvSpPr>
        <p:spPr>
          <a:xfrm>
            <a:off x="457200" y="3236976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ember dot 4"/>
          <p:cNvSpPr/>
          <p:nvPr/>
        </p:nvSpPr>
        <p:spPr>
          <a:xfrm>
            <a:off x="566928" y="3328416"/>
            <a:ext cx="393192" cy="393192"/>
          </a:xfrm>
          <a:prstGeom prst="ellipse">
            <a:avLst/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member name 4"/>
          <p:cNvSpPr txBox="1"/>
          <p:nvPr/>
        </p:nvSpPr>
        <p:spPr>
          <a:xfrm>
            <a:off x="1097280" y="3291840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Sai</a:t>
            </a:r>
          </a:p>
        </p:txBody>
      </p:sp>
      <p:sp>
        <p:nvSpPr>
          <p:cNvPr id="24" name="member role 4"/>
          <p:cNvSpPr txBox="1"/>
          <p:nvPr/>
        </p:nvSpPr>
        <p:spPr>
          <a:xfrm>
            <a:off x="2468880" y="329184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5B6B82"/>
                </a:solidFill>
              </a:rPr>
              <a:t>Retrieval</a:t>
            </a:r>
          </a:p>
        </p:txBody>
      </p:sp>
      <p:sp>
        <p:nvSpPr>
          <p:cNvPr id="25" name="member owns 4"/>
          <p:cNvSpPr txBox="1"/>
          <p:nvPr/>
        </p:nvSpPr>
        <p:spPr>
          <a:xfrm>
            <a:off x="4663440" y="329184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chunking, search, reranking, claim check, eval runner</a:t>
            </a:r>
          </a:p>
        </p:txBody>
      </p:sp>
      <p:sp>
        <p:nvSpPr>
          <p:cNvPr id="26" name="member card 5"/>
          <p:cNvSpPr/>
          <p:nvPr/>
        </p:nvSpPr>
        <p:spPr>
          <a:xfrm>
            <a:off x="457200" y="3904487"/>
            <a:ext cx="8229600" cy="576072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member dot 5"/>
          <p:cNvSpPr/>
          <p:nvPr/>
        </p:nvSpPr>
        <p:spPr>
          <a:xfrm>
            <a:off x="566928" y="3995927"/>
            <a:ext cx="393192" cy="393192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member name 5"/>
          <p:cNvSpPr txBox="1"/>
          <p:nvPr/>
        </p:nvSpPr>
        <p:spPr>
          <a:xfrm>
            <a:off x="1097280" y="3959351"/>
            <a:ext cx="12801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Adinath</a:t>
            </a:r>
          </a:p>
        </p:txBody>
      </p:sp>
      <p:sp>
        <p:nvSpPr>
          <p:cNvPr id="29" name="member role 5"/>
          <p:cNvSpPr txBox="1"/>
          <p:nvPr/>
        </p:nvSpPr>
        <p:spPr>
          <a:xfrm>
            <a:off x="2468880" y="3959351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</a:rPr>
              <a:t>Data pipeline</a:t>
            </a:r>
          </a:p>
        </p:txBody>
      </p:sp>
      <p:sp>
        <p:nvSpPr>
          <p:cNvPr id="30" name="member owns 5"/>
          <p:cNvSpPr txBox="1"/>
          <p:nvPr/>
        </p:nvSpPr>
        <p:spPr>
          <a:xfrm>
            <a:off x="4663440" y="3959351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crawl, extraction, OCR, PII, statistics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What it answers from: 160 documents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4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hart card"/>
          <p:cNvSpPr/>
          <p:nvPr/>
        </p:nvSpPr>
        <p:spPr>
          <a:xfrm>
            <a:off x="457200" y="1280160"/>
            <a:ext cx="4937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documents by source" descr="Documents by source: 111 CFR sections, 33 Know Before You Fly, 8 rule PDFs, 8 Federal Register rules"/>
          <p:cNvGraphicFramePr>
            <a:graphicFrameLocks noGrp="1"/>
          </p:cNvGraphicFramePr>
          <p:nvPr/>
        </p:nvGraphicFramePr>
        <p:xfrm>
          <a:off x="548640" y="1371600"/>
          <a:ext cx="47548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 tables card"/>
          <p:cNvSpPr/>
          <p:nvPr/>
        </p:nvSpPr>
        <p:spPr>
          <a:xfrm>
            <a:off x="5669280" y="1280160"/>
            <a:ext cx="301752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tables number"/>
          <p:cNvSpPr txBox="1"/>
          <p:nvPr/>
        </p:nvSpPr>
        <p:spPr>
          <a:xfrm>
            <a:off x="5806440" y="135331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D9480F"/>
                </a:solidFill>
                <a:latin typeface="Cambria"/>
              </a:rPr>
              <a:t>157</a:t>
            </a:r>
          </a:p>
        </p:txBody>
      </p:sp>
      <p:sp>
        <p:nvSpPr>
          <p:cNvPr id="10" name="stat tables label"/>
          <p:cNvSpPr txBox="1"/>
          <p:nvPr/>
        </p:nvSpPr>
        <p:spPr>
          <a:xfrm>
            <a:off x="5806440" y="1993391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tables kept, in 17 documents</a:t>
            </a:r>
          </a:p>
        </p:txBody>
      </p:sp>
      <p:sp>
        <p:nvSpPr>
          <p:cNvPr id="11" name="stat dates card"/>
          <p:cNvSpPr/>
          <p:nvPr/>
        </p:nvSpPr>
        <p:spPr>
          <a:xfrm>
            <a:off x="5669280" y="3017520"/>
            <a:ext cx="3017520" cy="15544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dates number"/>
          <p:cNvSpPr txBox="1"/>
          <p:nvPr/>
        </p:nvSpPr>
        <p:spPr>
          <a:xfrm>
            <a:off x="5806440" y="3090672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600" b="1" i="0">
                <a:solidFill>
                  <a:srgbClr val="2E8B57"/>
                </a:solidFill>
                <a:latin typeface="Cambria"/>
              </a:rPr>
              <a:t>160 / 160</a:t>
            </a:r>
          </a:p>
        </p:txBody>
      </p:sp>
      <p:sp>
        <p:nvSpPr>
          <p:cNvPr id="13" name="stat dates label"/>
          <p:cNvSpPr txBox="1"/>
          <p:nvPr/>
        </p:nvSpPr>
        <p:spPr>
          <a:xfrm>
            <a:off x="5806440" y="3730752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have an effective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Crawling politely, and what went wrong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5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ard 1"/>
          <p:cNvSpPr/>
          <p:nvPr/>
        </p:nvSpPr>
        <p:spPr>
          <a:xfrm>
            <a:off x="457200" y="1280160"/>
            <a:ext cx="1920240" cy="22860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 1 circle"/>
          <p:cNvSpPr/>
          <p:nvPr/>
        </p:nvSpPr>
        <p:spPr>
          <a:xfrm>
            <a:off x="594360" y="14173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ard 1 icon" descr="Polite by cod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543507"/>
            <a:ext cx="296265" cy="296265"/>
          </a:xfrm>
          <a:prstGeom prst="rect">
            <a:avLst/>
          </a:prstGeom>
        </p:spPr>
      </p:pic>
      <p:sp>
        <p:nvSpPr>
          <p:cNvPr id="9" name="card 1 title"/>
          <p:cNvSpPr txBox="1"/>
          <p:nvPr/>
        </p:nvSpPr>
        <p:spPr>
          <a:xfrm>
            <a:off x="59436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Polite by code</a:t>
            </a:r>
          </a:p>
        </p:txBody>
      </p:sp>
      <p:sp>
        <p:nvSpPr>
          <p:cNvPr id="10" name="card 1 text"/>
          <p:cNvSpPr txBox="1"/>
          <p:nvPr/>
        </p:nvSpPr>
        <p:spPr>
          <a:xfrm>
            <a:off x="594360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robots.txt first, 1 request per second</a:t>
            </a:r>
          </a:p>
        </p:txBody>
      </p:sp>
      <p:sp>
        <p:nvSpPr>
          <p:cNvPr id="11" name="card 2"/>
          <p:cNvSpPr/>
          <p:nvPr/>
        </p:nvSpPr>
        <p:spPr>
          <a:xfrm>
            <a:off x="2560320" y="1280160"/>
            <a:ext cx="1920240" cy="22860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2 circle"/>
          <p:cNvSpPr/>
          <p:nvPr/>
        </p:nvSpPr>
        <p:spPr>
          <a:xfrm>
            <a:off x="2697480" y="1417319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card 2 icon" descr="faa.gov said n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67" y="1543507"/>
            <a:ext cx="296265" cy="296265"/>
          </a:xfrm>
          <a:prstGeom prst="rect">
            <a:avLst/>
          </a:prstGeom>
        </p:spPr>
      </p:pic>
      <p:sp>
        <p:nvSpPr>
          <p:cNvPr id="14" name="card 2 title"/>
          <p:cNvSpPr txBox="1"/>
          <p:nvPr/>
        </p:nvSpPr>
        <p:spPr>
          <a:xfrm>
            <a:off x="269748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faa.gov said no</a:t>
            </a:r>
          </a:p>
        </p:txBody>
      </p:sp>
      <p:sp>
        <p:nvSpPr>
          <p:cNvPr id="15" name="card 2 text"/>
          <p:cNvSpPr txBox="1"/>
          <p:nvPr/>
        </p:nvSpPr>
        <p:spPr>
          <a:xfrm>
            <a:off x="2697480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403 on robots.txt: we stopped</a:t>
            </a:r>
          </a:p>
        </p:txBody>
      </p:sp>
      <p:sp>
        <p:nvSpPr>
          <p:cNvPr id="16" name="card 3"/>
          <p:cNvSpPr/>
          <p:nvPr/>
        </p:nvSpPr>
        <p:spPr>
          <a:xfrm>
            <a:off x="4663440" y="1280160"/>
            <a:ext cx="1920240" cy="22860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 3 circle"/>
          <p:cNvSpPr/>
          <p:nvPr/>
        </p:nvSpPr>
        <p:spPr>
          <a:xfrm>
            <a:off x="4800600" y="1417319"/>
            <a:ext cx="548640" cy="54864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card 3 icon" descr="Our eCFR mistak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787" y="1543507"/>
            <a:ext cx="296265" cy="296265"/>
          </a:xfrm>
          <a:prstGeom prst="rect">
            <a:avLst/>
          </a:prstGeom>
        </p:spPr>
      </p:pic>
      <p:sp>
        <p:nvSpPr>
          <p:cNvPr id="19" name="card 3 title"/>
          <p:cNvSpPr txBox="1"/>
          <p:nvPr/>
        </p:nvSpPr>
        <p:spPr>
          <a:xfrm>
            <a:off x="480060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Our eCFR mistake</a:t>
            </a:r>
          </a:p>
        </p:txBody>
      </p:sp>
      <p:sp>
        <p:nvSpPr>
          <p:cNvPr id="20" name="card 3 text"/>
          <p:cNvSpPr txBox="1"/>
          <p:nvPr/>
        </p:nvSpPr>
        <p:spPr>
          <a:xfrm>
            <a:off x="4800600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parser bug: 112 pages fetched in error</a:t>
            </a:r>
          </a:p>
        </p:txBody>
      </p:sp>
      <p:sp>
        <p:nvSpPr>
          <p:cNvPr id="21" name="card 4"/>
          <p:cNvSpPr/>
          <p:nvPr/>
        </p:nvSpPr>
        <p:spPr>
          <a:xfrm>
            <a:off x="6766560" y="1280160"/>
            <a:ext cx="1920240" cy="228600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 4 circle"/>
          <p:cNvSpPr/>
          <p:nvPr/>
        </p:nvSpPr>
        <p:spPr>
          <a:xfrm>
            <a:off x="6903720" y="1417319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card 4 icon" descr="What we di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907" y="1543507"/>
            <a:ext cx="296265" cy="296265"/>
          </a:xfrm>
          <a:prstGeom prst="rect">
            <a:avLst/>
          </a:prstGeom>
        </p:spPr>
      </p:pic>
      <p:sp>
        <p:nvSpPr>
          <p:cNvPr id="24" name="card 4 title"/>
          <p:cNvSpPr txBox="1"/>
          <p:nvPr/>
        </p:nvSpPr>
        <p:spPr>
          <a:xfrm>
            <a:off x="690372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What we did</a:t>
            </a:r>
          </a:p>
        </p:txBody>
      </p:sp>
      <p:sp>
        <p:nvSpPr>
          <p:cNvPr id="25" name="card 4 text"/>
          <p:cNvSpPr txBox="1"/>
          <p:nvPr/>
        </p:nvSpPr>
        <p:spPr>
          <a:xfrm>
            <a:off x="6903720" y="260604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fixed, tested, quarantined</a:t>
            </a:r>
          </a:p>
        </p:txBody>
      </p:sp>
      <p:sp>
        <p:nvSpPr>
          <p:cNvPr id="26" name="numbers card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9411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rawl numbers"/>
          <p:cNvSpPr txBox="1"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385 fetches saved   |   13 URLs refused by robots.txt   |   645 URLs never requested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From messy pages to clean, safe text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6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ard 1"/>
          <p:cNvSpPr/>
          <p:nvPr/>
        </p:nvSpPr>
        <p:spPr>
          <a:xfrm>
            <a:off x="457200" y="128016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 1 circle"/>
          <p:cNvSpPr/>
          <p:nvPr/>
        </p:nvSpPr>
        <p:spPr>
          <a:xfrm>
            <a:off x="594360" y="1417319"/>
            <a:ext cx="502920" cy="50292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ard 1 icon" descr="Web p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" y="1532991"/>
            <a:ext cx="271576" cy="271576"/>
          </a:xfrm>
          <a:prstGeom prst="rect">
            <a:avLst/>
          </a:prstGeom>
        </p:spPr>
      </p:pic>
      <p:sp>
        <p:nvSpPr>
          <p:cNvPr id="9" name="card 1 title"/>
          <p:cNvSpPr txBox="1"/>
          <p:nvPr/>
        </p:nvSpPr>
        <p:spPr>
          <a:xfrm>
            <a:off x="594360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Web pages</a:t>
            </a:r>
          </a:p>
        </p:txBody>
      </p:sp>
      <p:sp>
        <p:nvSpPr>
          <p:cNvPr id="10" name="card 1 text"/>
          <p:cNvSpPr txBox="1"/>
          <p:nvPr/>
        </p:nvSpPr>
        <p:spPr>
          <a:xfrm>
            <a:off x="594360" y="25603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22 docs, headings kept</a:t>
            </a:r>
          </a:p>
        </p:txBody>
      </p:sp>
      <p:sp>
        <p:nvSpPr>
          <p:cNvPr id="11" name="card 2"/>
          <p:cNvSpPr/>
          <p:nvPr/>
        </p:nvSpPr>
        <p:spPr>
          <a:xfrm>
            <a:off x="2560320" y="128016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2 circle"/>
          <p:cNvSpPr/>
          <p:nvPr/>
        </p:nvSpPr>
        <p:spPr>
          <a:xfrm>
            <a:off x="2697480" y="1417319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card 2 icon" descr="Federal Regist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3151" y="1532991"/>
            <a:ext cx="271576" cy="271576"/>
          </a:xfrm>
          <a:prstGeom prst="rect">
            <a:avLst/>
          </a:prstGeom>
        </p:spPr>
      </p:pic>
      <p:sp>
        <p:nvSpPr>
          <p:cNvPr id="14" name="card 2 title"/>
          <p:cNvSpPr txBox="1"/>
          <p:nvPr/>
        </p:nvSpPr>
        <p:spPr>
          <a:xfrm>
            <a:off x="2697480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Federal Register</a:t>
            </a:r>
          </a:p>
        </p:txBody>
      </p:sp>
      <p:sp>
        <p:nvSpPr>
          <p:cNvPr id="15" name="card 2 text"/>
          <p:cNvSpPr txBox="1"/>
          <p:nvPr/>
        </p:nvSpPr>
        <p:spPr>
          <a:xfrm>
            <a:off x="2697480" y="25603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8 docs, structure walker</a:t>
            </a:r>
          </a:p>
        </p:txBody>
      </p:sp>
      <p:sp>
        <p:nvSpPr>
          <p:cNvPr id="16" name="card 3"/>
          <p:cNvSpPr/>
          <p:nvPr/>
        </p:nvSpPr>
        <p:spPr>
          <a:xfrm>
            <a:off x="4663440" y="128016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 3 circle"/>
          <p:cNvSpPr/>
          <p:nvPr/>
        </p:nvSpPr>
        <p:spPr>
          <a:xfrm>
            <a:off x="4800600" y="1417319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card 3 icon" descr="CFR section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6271" y="1532991"/>
            <a:ext cx="271576" cy="271576"/>
          </a:xfrm>
          <a:prstGeom prst="rect">
            <a:avLst/>
          </a:prstGeom>
        </p:spPr>
      </p:pic>
      <p:sp>
        <p:nvSpPr>
          <p:cNvPr id="19" name="card 3 title"/>
          <p:cNvSpPr txBox="1"/>
          <p:nvPr/>
        </p:nvSpPr>
        <p:spPr>
          <a:xfrm>
            <a:off x="4800600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CFR sections</a:t>
            </a:r>
          </a:p>
        </p:txBody>
      </p:sp>
      <p:sp>
        <p:nvSpPr>
          <p:cNvPr id="20" name="card 3 text"/>
          <p:cNvSpPr txBox="1"/>
          <p:nvPr/>
        </p:nvSpPr>
        <p:spPr>
          <a:xfrm>
            <a:off x="4800600" y="25603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111 docs from XML</a:t>
            </a:r>
          </a:p>
        </p:txBody>
      </p:sp>
      <p:sp>
        <p:nvSpPr>
          <p:cNvPr id="21" name="card 4"/>
          <p:cNvSpPr/>
          <p:nvPr/>
        </p:nvSpPr>
        <p:spPr>
          <a:xfrm>
            <a:off x="6766560" y="128016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 4 circle"/>
          <p:cNvSpPr/>
          <p:nvPr/>
        </p:nvSpPr>
        <p:spPr>
          <a:xfrm>
            <a:off x="6903720" y="1417319"/>
            <a:ext cx="502920" cy="502920"/>
          </a:xfrm>
          <a:prstGeom prst="ellipse">
            <a:avLst/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card 4 icon" descr="PDF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9391" y="1532991"/>
            <a:ext cx="271576" cy="271576"/>
          </a:xfrm>
          <a:prstGeom prst="rect">
            <a:avLst/>
          </a:prstGeom>
        </p:spPr>
      </p:pic>
      <p:sp>
        <p:nvSpPr>
          <p:cNvPr id="24" name="card 4 title"/>
          <p:cNvSpPr txBox="1"/>
          <p:nvPr/>
        </p:nvSpPr>
        <p:spPr>
          <a:xfrm>
            <a:off x="6903720" y="1965960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PDFs</a:t>
            </a:r>
          </a:p>
        </p:txBody>
      </p:sp>
      <p:sp>
        <p:nvSpPr>
          <p:cNvPr id="25" name="card 4 text"/>
          <p:cNvSpPr txBox="1"/>
          <p:nvPr/>
        </p:nvSpPr>
        <p:spPr>
          <a:xfrm>
            <a:off x="6903720" y="25603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14 text, 5 by OCR</a:t>
            </a:r>
          </a:p>
        </p:txBody>
      </p:sp>
      <p:sp>
        <p:nvSpPr>
          <p:cNvPr id="26" name="pii card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6153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pii circle"/>
          <p:cNvSpPr/>
          <p:nvPr/>
        </p:nvSpPr>
        <p:spPr>
          <a:xfrm>
            <a:off x="640080" y="3520440"/>
            <a:ext cx="777240" cy="7772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i icon" descr="Personal data remove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45" y="3699205"/>
            <a:ext cx="419709" cy="419709"/>
          </a:xfrm>
          <a:prstGeom prst="rect">
            <a:avLst/>
          </a:prstGeom>
        </p:spPr>
      </p:pic>
      <p:sp>
        <p:nvSpPr>
          <p:cNvPr id="29" name="pii head"/>
          <p:cNvSpPr txBox="1"/>
          <p:nvPr/>
        </p:nvSpPr>
        <p:spPr>
          <a:xfrm>
            <a:off x="1645920" y="342900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Personal details redacted, counts only logged</a:t>
            </a:r>
          </a:p>
        </p:txBody>
      </p:sp>
      <p:sp>
        <p:nvSpPr>
          <p:cNvPr id="30" name="pii numbers"/>
          <p:cNvSpPr txBox="1"/>
          <p:nvPr/>
        </p:nvSpPr>
        <p:spPr>
          <a:xfrm>
            <a:off x="1645920" y="384048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FB8E8"/>
                </a:solidFill>
              </a:rPr>
              <a:t>18 phones   |   60 street addresses   |   18 emails   |   20 documents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Two ways to cut text into chunks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7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hunk chart card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unks per strategy" descr="Chunks: fixed 3656, structure-aware 4905"/>
          <p:cNvGraphicFramePr>
            <a:graphicFrameLocks noGrp="1"/>
          </p:cNvGraphicFramePr>
          <p:nvPr/>
        </p:nvGraphicFramePr>
        <p:xfrm>
          <a:off x="548640" y="1371600"/>
          <a:ext cx="3749039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chart caption"/>
          <p:cNvSpPr txBox="1"/>
          <p:nvPr/>
        </p:nvSpPr>
        <p:spPr>
          <a:xfrm>
            <a:off x="640080" y="41148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chunks from the same 160 documents</a:t>
            </a:r>
          </a:p>
        </p:txBody>
      </p:sp>
      <p:sp>
        <p:nvSpPr>
          <p:cNvPr id="9" name="fixed card"/>
          <p:cNvSpPr/>
          <p:nvPr/>
        </p:nvSpPr>
        <p:spPr>
          <a:xfrm>
            <a:off x="4663440" y="128016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ixed head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D9480F"/>
                </a:solidFill>
              </a:rPr>
              <a:t>A  Fixed size</a:t>
            </a:r>
          </a:p>
        </p:txBody>
      </p:sp>
      <p:sp>
        <p:nvSpPr>
          <p:cNvPr id="11" name="fixed text"/>
          <p:cNvSpPr txBox="1"/>
          <p:nvPr/>
        </p:nvSpPr>
        <p:spPr>
          <a:xfrm>
            <a:off x="4846320" y="178308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512-token windows, 64 overlap. Mean 497 tokens.</a:t>
            </a:r>
          </a:p>
        </p:txBody>
      </p:sp>
      <p:sp>
        <p:nvSpPr>
          <p:cNvPr id="12" name="struct card"/>
          <p:cNvSpPr/>
          <p:nvPr/>
        </p:nvSpPr>
        <p:spPr>
          <a:xfrm>
            <a:off x="4663440" y="301752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ruct head"/>
          <p:cNvSpPr txBox="1"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F6FB5"/>
                </a:solidFill>
              </a:rPr>
              <a:t>B  Structure-aware</a:t>
            </a:r>
          </a:p>
        </p:txBody>
      </p:sp>
      <p:sp>
        <p:nvSpPr>
          <p:cNvPr id="14" name="struct text"/>
          <p:cNvSpPr txBox="1"/>
          <p:nvPr/>
        </p:nvSpPr>
        <p:spPr>
          <a:xfrm>
            <a:off x="4846320" y="352044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Split on headings, heading path in each chunk, tables whole. Mean 395 tokens.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Finding the right passages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B8E8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8FB8E8"/>
                </a:solidFill>
              </a:rPr>
              <a:t>8</a:t>
            </a:fld>
            <a:endParaRPr lang="en-US" sz="1000">
              <a:solidFill>
                <a:srgbClr val="8FB8E8"/>
              </a:solidFill>
            </a:endParaRPr>
          </a:p>
        </p:txBody>
      </p:sp>
      <p:sp>
        <p:nvSpPr>
          <p:cNvPr id="6" name="search 1"/>
          <p:cNvSpPr/>
          <p:nvPr/>
        </p:nvSpPr>
        <p:spPr>
          <a:xfrm>
            <a:off x="457200" y="1280160"/>
            <a:ext cx="2377440" cy="1005840"/>
          </a:xfrm>
          <a:prstGeom prst="roundRect">
            <a:avLst>
              <a:gd name="adj" fmla="val 7272"/>
            </a:avLst>
          </a:prstGeom>
          <a:solidFill>
            <a:srgbClr val="0B1F3A"/>
          </a:solidFill>
          <a:ln w="12700">
            <a:solidFill>
              <a:srgbClr val="8F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earch 1 circle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earch 1 icon" descr="Dense searc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634947"/>
            <a:ext cx="296265" cy="296265"/>
          </a:xfrm>
          <a:prstGeom prst="rect">
            <a:avLst/>
          </a:prstGeom>
        </p:spPr>
      </p:pic>
      <p:sp>
        <p:nvSpPr>
          <p:cNvPr id="9" name="search 1 head"/>
          <p:cNvSpPr txBox="1"/>
          <p:nvPr/>
        </p:nvSpPr>
        <p:spPr>
          <a:xfrm>
            <a:off x="1280160" y="1463039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Dense search</a:t>
            </a:r>
          </a:p>
        </p:txBody>
      </p:sp>
      <p:sp>
        <p:nvSpPr>
          <p:cNvPr id="10" name="search 1 text"/>
          <p:cNvSpPr txBox="1"/>
          <p:nvPr/>
        </p:nvSpPr>
        <p:spPr>
          <a:xfrm>
            <a:off x="1280160" y="182880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B8E8"/>
                </a:solidFill>
              </a:rPr>
              <a:t>meaning, top 20</a:t>
            </a:r>
          </a:p>
        </p:txBody>
      </p:sp>
      <p:sp>
        <p:nvSpPr>
          <p:cNvPr id="11" name="search 2"/>
          <p:cNvSpPr/>
          <p:nvPr/>
        </p:nvSpPr>
        <p:spPr>
          <a:xfrm>
            <a:off x="457200" y="2468880"/>
            <a:ext cx="2377440" cy="1005840"/>
          </a:xfrm>
          <a:prstGeom prst="roundRect">
            <a:avLst>
              <a:gd name="adj" fmla="val 7272"/>
            </a:avLst>
          </a:prstGeom>
          <a:solidFill>
            <a:srgbClr val="0B1F3A"/>
          </a:solidFill>
          <a:ln w="12700">
            <a:solidFill>
              <a:srgbClr val="8F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earch 2 circle"/>
          <p:cNvSpPr/>
          <p:nvPr/>
        </p:nvSpPr>
        <p:spPr>
          <a:xfrm>
            <a:off x="594360" y="2697480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search 2 icon" descr="BM25 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" y="2823667"/>
            <a:ext cx="296265" cy="296265"/>
          </a:xfrm>
          <a:prstGeom prst="rect">
            <a:avLst/>
          </a:prstGeom>
        </p:spPr>
      </p:pic>
      <p:sp>
        <p:nvSpPr>
          <p:cNvPr id="14" name="search 2 head"/>
          <p:cNvSpPr txBox="1"/>
          <p:nvPr/>
        </p:nvSpPr>
        <p:spPr>
          <a:xfrm>
            <a:off x="1280160" y="265176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BM25 search</a:t>
            </a:r>
          </a:p>
        </p:txBody>
      </p:sp>
      <p:sp>
        <p:nvSpPr>
          <p:cNvPr id="15" name="search 2 text"/>
          <p:cNvSpPr txBox="1"/>
          <p:nvPr/>
        </p:nvSpPr>
        <p:spPr>
          <a:xfrm>
            <a:off x="1280160" y="3017520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8FB8E8"/>
                </a:solidFill>
              </a:rPr>
              <a:t>exact words, top 20</a:t>
            </a:r>
          </a:p>
        </p:txBody>
      </p:sp>
      <p:sp>
        <p:nvSpPr>
          <p:cNvPr id="16" name="stage 1"/>
          <p:cNvSpPr/>
          <p:nvPr/>
        </p:nvSpPr>
        <p:spPr>
          <a:xfrm>
            <a:off x="3154680" y="1280160"/>
            <a:ext cx="1783080" cy="2194560"/>
          </a:xfrm>
          <a:prstGeom prst="roundRect">
            <a:avLst>
              <a:gd name="adj" fmla="val 4102"/>
            </a:avLst>
          </a:prstGeom>
          <a:solidFill>
            <a:srgbClr val="0B1F3A"/>
          </a:solidFill>
          <a:ln w="12700">
            <a:solidFill>
              <a:srgbClr val="8F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stage 1 circle"/>
          <p:cNvSpPr/>
          <p:nvPr/>
        </p:nvSpPr>
        <p:spPr>
          <a:xfrm>
            <a:off x="3771900" y="1417320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stage 1 icon" descr="Fuse (RRF, k = 60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8087" y="1543507"/>
            <a:ext cx="296265" cy="296265"/>
          </a:xfrm>
          <a:prstGeom prst="rect">
            <a:avLst/>
          </a:prstGeom>
        </p:spPr>
      </p:pic>
      <p:sp>
        <p:nvSpPr>
          <p:cNvPr id="19" name="stage 1 head"/>
          <p:cNvSpPr txBox="1"/>
          <p:nvPr/>
        </p:nvSpPr>
        <p:spPr>
          <a:xfrm>
            <a:off x="3246120" y="210312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Fuse (RRF, k = 60)</a:t>
            </a:r>
          </a:p>
        </p:txBody>
      </p:sp>
      <p:sp>
        <p:nvSpPr>
          <p:cNvPr id="20" name="stage 1 text"/>
          <p:cNvSpPr txBox="1"/>
          <p:nvPr/>
        </p:nvSpPr>
        <p:spPr>
          <a:xfrm>
            <a:off x="3246120" y="27889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8FB8E8"/>
                </a:solidFill>
              </a:rPr>
              <a:t>pool of 20</a:t>
            </a:r>
          </a:p>
        </p:txBody>
      </p:sp>
      <p:sp>
        <p:nvSpPr>
          <p:cNvPr id="21" name="stage arrow 1"/>
          <p:cNvSpPr/>
          <p:nvPr/>
        </p:nvSpPr>
        <p:spPr>
          <a:xfrm>
            <a:off x="4956048" y="2240280"/>
            <a:ext cx="256032" cy="182880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stage 2"/>
          <p:cNvSpPr/>
          <p:nvPr/>
        </p:nvSpPr>
        <p:spPr>
          <a:xfrm>
            <a:off x="5029200" y="1280160"/>
            <a:ext cx="1783080" cy="2194560"/>
          </a:xfrm>
          <a:prstGeom prst="roundRect">
            <a:avLst>
              <a:gd name="adj" fmla="val 4102"/>
            </a:avLst>
          </a:prstGeom>
          <a:solidFill>
            <a:srgbClr val="0B1F3A"/>
          </a:solidFill>
          <a:ln w="12700">
            <a:solidFill>
              <a:srgbClr val="8F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tage 2 circle"/>
          <p:cNvSpPr/>
          <p:nvPr/>
        </p:nvSpPr>
        <p:spPr>
          <a:xfrm>
            <a:off x="5646420" y="1417320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stage 2 icon" descr="Cross-encoder reran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2607" y="1543507"/>
            <a:ext cx="296265" cy="296265"/>
          </a:xfrm>
          <a:prstGeom prst="rect">
            <a:avLst/>
          </a:prstGeom>
        </p:spPr>
      </p:pic>
      <p:sp>
        <p:nvSpPr>
          <p:cNvPr id="25" name="stage 2 head"/>
          <p:cNvSpPr txBox="1"/>
          <p:nvPr/>
        </p:nvSpPr>
        <p:spPr>
          <a:xfrm>
            <a:off x="5120640" y="210312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Cross-encoder rerank</a:t>
            </a:r>
          </a:p>
        </p:txBody>
      </p:sp>
      <p:sp>
        <p:nvSpPr>
          <p:cNvPr id="26" name="stage 2 text"/>
          <p:cNvSpPr txBox="1"/>
          <p:nvPr/>
        </p:nvSpPr>
        <p:spPr>
          <a:xfrm>
            <a:off x="5120640" y="27889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8FB8E8"/>
                </a:solidFill>
              </a:rPr>
              <a:t>keep the best 5</a:t>
            </a:r>
          </a:p>
        </p:txBody>
      </p:sp>
      <p:sp>
        <p:nvSpPr>
          <p:cNvPr id="27" name="stage arrow 2"/>
          <p:cNvSpPr/>
          <p:nvPr/>
        </p:nvSpPr>
        <p:spPr>
          <a:xfrm>
            <a:off x="6830568" y="2240280"/>
            <a:ext cx="256032" cy="182880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stage 3"/>
          <p:cNvSpPr/>
          <p:nvPr/>
        </p:nvSpPr>
        <p:spPr>
          <a:xfrm>
            <a:off x="6903720" y="1280160"/>
            <a:ext cx="1783080" cy="2194560"/>
          </a:xfrm>
          <a:prstGeom prst="roundRect">
            <a:avLst>
              <a:gd name="adj" fmla="val 4102"/>
            </a:avLst>
          </a:prstGeom>
          <a:solidFill>
            <a:srgbClr val="0B1F3A"/>
          </a:solidFill>
          <a:ln w="12700">
            <a:solidFill>
              <a:srgbClr val="8FB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stage 3 circle"/>
          <p:cNvSpPr/>
          <p:nvPr/>
        </p:nvSpPr>
        <p:spPr>
          <a:xfrm>
            <a:off x="7520940" y="1417320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stage 3 icon" descr="Evidence gat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7127" y="1543507"/>
            <a:ext cx="296265" cy="296265"/>
          </a:xfrm>
          <a:prstGeom prst="rect">
            <a:avLst/>
          </a:prstGeom>
        </p:spPr>
      </p:pic>
      <p:sp>
        <p:nvSpPr>
          <p:cNvPr id="31" name="stage 3 head"/>
          <p:cNvSpPr txBox="1"/>
          <p:nvPr/>
        </p:nvSpPr>
        <p:spPr>
          <a:xfrm>
            <a:off x="6995159" y="2103120"/>
            <a:ext cx="1600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Evidence gate</a:t>
            </a:r>
          </a:p>
        </p:txBody>
      </p:sp>
      <p:sp>
        <p:nvSpPr>
          <p:cNvPr id="32" name="stage 3 text"/>
          <p:cNvSpPr txBox="1"/>
          <p:nvPr/>
        </p:nvSpPr>
        <p:spPr>
          <a:xfrm>
            <a:off x="6995159" y="2788920"/>
            <a:ext cx="1600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8FB8E8"/>
                </a:solidFill>
              </a:rPr>
              <a:t>refuse if too weak</a:t>
            </a:r>
          </a:p>
        </p:txBody>
      </p:sp>
      <p:sp>
        <p:nvSpPr>
          <p:cNvPr id="33" name="merge arrow"/>
          <p:cNvSpPr/>
          <p:nvPr/>
        </p:nvSpPr>
        <p:spPr>
          <a:xfrm>
            <a:off x="2880360" y="1783080"/>
            <a:ext cx="256032" cy="182880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merge arrow"/>
          <p:cNvSpPr/>
          <p:nvPr/>
        </p:nvSpPr>
        <p:spPr>
          <a:xfrm>
            <a:off x="2880360" y="2971800"/>
            <a:ext cx="256032" cy="182880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filter demo"/>
          <p:cNvSpPr txBox="1"/>
          <p:nvPr/>
        </p:nvSpPr>
        <p:spPr>
          <a:xfrm>
            <a:off x="457200" y="3749039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Page-type filter demo: 3 of 3 queries returned only the requested type</a:t>
            </a:r>
          </a:p>
        </p:txBody>
      </p:sp>
      <p:sp>
        <p:nvSpPr>
          <p:cNvPr id="36" name="ceiling note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8FB8E8"/>
                </a:solidFill>
              </a:rPr>
              <a:t>Reranker ceiling = Recall@20 of the pool: 0.56 on dev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>
            <a:normAutofit fontScale="90000"/>
          </a:bodyPr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Embeddings, vector database, clean migration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9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ard 1"/>
          <p:cNvSpPr/>
          <p:nvPr/>
        </p:nvSpPr>
        <p:spPr>
          <a:xfrm>
            <a:off x="457200" y="1280160"/>
            <a:ext cx="262128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 1 circle"/>
          <p:cNvSpPr/>
          <p:nvPr/>
        </p:nvSpPr>
        <p:spPr>
          <a:xfrm>
            <a:off x="594360" y="14173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ard 1 icon" descr="bge-small-en-v1.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543507"/>
            <a:ext cx="296265" cy="296265"/>
          </a:xfrm>
          <a:prstGeom prst="rect">
            <a:avLst/>
          </a:prstGeom>
        </p:spPr>
      </p:pic>
      <p:sp>
        <p:nvSpPr>
          <p:cNvPr id="9" name="card 1 title"/>
          <p:cNvSpPr txBox="1"/>
          <p:nvPr/>
        </p:nvSpPr>
        <p:spPr>
          <a:xfrm>
            <a:off x="59436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bge-small-en-v1.5</a:t>
            </a:r>
          </a:p>
        </p:txBody>
      </p:sp>
      <p:sp>
        <p:nvSpPr>
          <p:cNvPr id="10" name="card 1 text"/>
          <p:cNvSpPr txBox="1"/>
          <p:nvPr/>
        </p:nvSpPr>
        <p:spPr>
          <a:xfrm>
            <a:off x="594360" y="2606040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384 dims, cosine, L2-normalised</a:t>
            </a:r>
          </a:p>
        </p:txBody>
      </p:sp>
      <p:sp>
        <p:nvSpPr>
          <p:cNvPr id="11" name="card 2"/>
          <p:cNvSpPr/>
          <p:nvPr/>
        </p:nvSpPr>
        <p:spPr>
          <a:xfrm>
            <a:off x="3261360" y="1280160"/>
            <a:ext cx="262128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2 circle"/>
          <p:cNvSpPr/>
          <p:nvPr/>
        </p:nvSpPr>
        <p:spPr>
          <a:xfrm>
            <a:off x="3398520" y="1417319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card 2 icon" descr="Deterministic ID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707" y="1543507"/>
            <a:ext cx="296265" cy="296265"/>
          </a:xfrm>
          <a:prstGeom prst="rect">
            <a:avLst/>
          </a:prstGeom>
        </p:spPr>
      </p:pic>
      <p:sp>
        <p:nvSpPr>
          <p:cNvPr id="14" name="card 2 title"/>
          <p:cNvSpPr txBox="1"/>
          <p:nvPr/>
        </p:nvSpPr>
        <p:spPr>
          <a:xfrm>
            <a:off x="339852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Deterministic IDs</a:t>
            </a:r>
          </a:p>
        </p:txBody>
      </p:sp>
      <p:sp>
        <p:nvSpPr>
          <p:cNvPr id="15" name="card 2 text"/>
          <p:cNvSpPr txBox="1"/>
          <p:nvPr/>
        </p:nvSpPr>
        <p:spPr>
          <a:xfrm>
            <a:off x="3398520" y="2606040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doc :: strategy@version :: ordinal</a:t>
            </a:r>
          </a:p>
        </p:txBody>
      </p:sp>
      <p:sp>
        <p:nvSpPr>
          <p:cNvPr id="16" name="card 3"/>
          <p:cNvSpPr/>
          <p:nvPr/>
        </p:nvSpPr>
        <p:spPr>
          <a:xfrm>
            <a:off x="6065520" y="1280160"/>
            <a:ext cx="2621280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 3 circle"/>
          <p:cNvSpPr/>
          <p:nvPr/>
        </p:nvSpPr>
        <p:spPr>
          <a:xfrm>
            <a:off x="6202680" y="1417319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card 3 icon" descr="Re-chunk, no re-craw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867" y="1543507"/>
            <a:ext cx="296265" cy="296265"/>
          </a:xfrm>
          <a:prstGeom prst="rect">
            <a:avLst/>
          </a:prstGeom>
        </p:spPr>
      </p:pic>
      <p:sp>
        <p:nvSpPr>
          <p:cNvPr id="19" name="card 3 title"/>
          <p:cNvSpPr txBox="1"/>
          <p:nvPr/>
        </p:nvSpPr>
        <p:spPr>
          <a:xfrm>
            <a:off x="6202680" y="2011679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</a:rPr>
              <a:t>Re-chunk, no re-crawl</a:t>
            </a:r>
          </a:p>
        </p:txBody>
      </p:sp>
      <p:sp>
        <p:nvSpPr>
          <p:cNvPr id="20" name="card 3 text"/>
          <p:cNvSpPr txBox="1"/>
          <p:nvPr/>
        </p:nvSpPr>
        <p:spPr>
          <a:xfrm>
            <a:off x="6202680" y="2606040"/>
            <a:ext cx="234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from saved text, old strategy deleted</a:t>
            </a:r>
          </a:p>
        </p:txBody>
      </p:sp>
      <p:sp>
        <p:nvSpPr>
          <p:cNvPr id="21" name="migration card"/>
          <p:cNvSpPr/>
          <p:nvPr/>
        </p:nvSpPr>
        <p:spPr>
          <a:xfrm>
            <a:off x="457200" y="3429000"/>
            <a:ext cx="8229600" cy="1097280"/>
          </a:xfrm>
          <a:prstGeom prst="roundRect">
            <a:avLst>
              <a:gd name="adj" fmla="val 6666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migration numbers"/>
          <p:cNvSpPr txBox="1"/>
          <p:nvPr/>
        </p:nvSpPr>
        <p:spPr>
          <a:xfrm>
            <a:off x="731520" y="3493008"/>
            <a:ext cx="50292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3,656 fixed chunks deleted, 4,905 structure-aware upserted</a:t>
            </a:r>
          </a:p>
        </p:txBody>
      </p:sp>
      <p:sp>
        <p:nvSpPr>
          <p:cNvPr id="23" name="orphan result"/>
          <p:cNvSpPr txBox="1"/>
          <p:nvPr/>
        </p:nvSpPr>
        <p:spPr>
          <a:xfrm>
            <a:off x="5943600" y="3493008"/>
            <a:ext cx="256032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2E8B57"/>
                </a:solidFill>
              </a:rPr>
              <a:t>Orphan check: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One question, end to end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8FB8E8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8FB8E8"/>
                </a:solidFill>
              </a:rPr>
              <a:t>10</a:t>
            </a:fld>
            <a:endParaRPr lang="en-US" sz="1000">
              <a:solidFill>
                <a:srgbClr val="8FB8E8"/>
              </a:solidFill>
            </a:endParaRPr>
          </a:p>
        </p:txBody>
      </p:sp>
      <p:sp>
        <p:nvSpPr>
          <p:cNvPr id="6" name="row 1 label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B84B"/>
                </a:solidFill>
              </a:rPr>
              <a:t>When you ask</a:t>
            </a:r>
          </a:p>
        </p:txBody>
      </p:sp>
      <p:sp>
        <p:nvSpPr>
          <p:cNvPr id="7" name="query 1"/>
          <p:cNvSpPr/>
          <p:nvPr/>
        </p:nvSpPr>
        <p:spPr>
          <a:xfrm>
            <a:off x="457200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query 1 text"/>
          <p:cNvSpPr txBox="1"/>
          <p:nvPr/>
        </p:nvSpPr>
        <p:spPr>
          <a:xfrm>
            <a:off x="457200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9" name="query 1 owner"/>
          <p:cNvSpPr txBox="1"/>
          <p:nvPr/>
        </p:nvSpPr>
        <p:spPr>
          <a:xfrm>
            <a:off x="411480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0" name="query arrow 1"/>
          <p:cNvSpPr/>
          <p:nvPr/>
        </p:nvSpPr>
        <p:spPr>
          <a:xfrm>
            <a:off x="1367028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query 2"/>
          <p:cNvSpPr/>
          <p:nvPr/>
        </p:nvSpPr>
        <p:spPr>
          <a:xfrm>
            <a:off x="1504188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query 2 text"/>
          <p:cNvSpPr txBox="1"/>
          <p:nvPr/>
        </p:nvSpPr>
        <p:spPr>
          <a:xfrm>
            <a:off x="1504188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Router</a:t>
            </a:r>
          </a:p>
        </p:txBody>
      </p:sp>
      <p:sp>
        <p:nvSpPr>
          <p:cNvPr id="13" name="query 2 owner"/>
          <p:cNvSpPr txBox="1"/>
          <p:nvPr/>
        </p:nvSpPr>
        <p:spPr>
          <a:xfrm>
            <a:off x="1458468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Dorai</a:t>
            </a:r>
          </a:p>
        </p:txBody>
      </p:sp>
      <p:sp>
        <p:nvSpPr>
          <p:cNvPr id="14" name="query arrow 2"/>
          <p:cNvSpPr/>
          <p:nvPr/>
        </p:nvSpPr>
        <p:spPr>
          <a:xfrm>
            <a:off x="2414015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query 3"/>
          <p:cNvSpPr/>
          <p:nvPr/>
        </p:nvSpPr>
        <p:spPr>
          <a:xfrm>
            <a:off x="2551176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query 3 text"/>
          <p:cNvSpPr txBox="1"/>
          <p:nvPr/>
        </p:nvSpPr>
        <p:spPr>
          <a:xfrm>
            <a:off x="2551176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Retrieve</a:t>
            </a:r>
          </a:p>
        </p:txBody>
      </p:sp>
      <p:sp>
        <p:nvSpPr>
          <p:cNvPr id="17" name="query 3 owner"/>
          <p:cNvSpPr txBox="1"/>
          <p:nvPr/>
        </p:nvSpPr>
        <p:spPr>
          <a:xfrm>
            <a:off x="2505456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Sai</a:t>
            </a:r>
          </a:p>
        </p:txBody>
      </p:sp>
      <p:sp>
        <p:nvSpPr>
          <p:cNvPr id="18" name="query arrow 3"/>
          <p:cNvSpPr/>
          <p:nvPr/>
        </p:nvSpPr>
        <p:spPr>
          <a:xfrm>
            <a:off x="3461003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query 4"/>
          <p:cNvSpPr/>
          <p:nvPr/>
        </p:nvSpPr>
        <p:spPr>
          <a:xfrm>
            <a:off x="3598164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query 4 text"/>
          <p:cNvSpPr txBox="1"/>
          <p:nvPr/>
        </p:nvSpPr>
        <p:spPr>
          <a:xfrm>
            <a:off x="3598164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Rerank</a:t>
            </a:r>
          </a:p>
        </p:txBody>
      </p:sp>
      <p:sp>
        <p:nvSpPr>
          <p:cNvPr id="21" name="query 4 owner"/>
          <p:cNvSpPr txBox="1"/>
          <p:nvPr/>
        </p:nvSpPr>
        <p:spPr>
          <a:xfrm>
            <a:off x="3552444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Sai</a:t>
            </a:r>
          </a:p>
        </p:txBody>
      </p:sp>
      <p:sp>
        <p:nvSpPr>
          <p:cNvPr id="22" name="query arrow 4"/>
          <p:cNvSpPr/>
          <p:nvPr/>
        </p:nvSpPr>
        <p:spPr>
          <a:xfrm>
            <a:off x="4507992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query 5"/>
          <p:cNvSpPr/>
          <p:nvPr/>
        </p:nvSpPr>
        <p:spPr>
          <a:xfrm>
            <a:off x="4645152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query 5 text"/>
          <p:cNvSpPr txBox="1"/>
          <p:nvPr/>
        </p:nvSpPr>
        <p:spPr>
          <a:xfrm>
            <a:off x="4645152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Gate</a:t>
            </a:r>
          </a:p>
        </p:txBody>
      </p:sp>
      <p:sp>
        <p:nvSpPr>
          <p:cNvPr id="25" name="query 5 owner"/>
          <p:cNvSpPr txBox="1"/>
          <p:nvPr/>
        </p:nvSpPr>
        <p:spPr>
          <a:xfrm>
            <a:off x="4599432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Pavan</a:t>
            </a:r>
          </a:p>
        </p:txBody>
      </p:sp>
      <p:sp>
        <p:nvSpPr>
          <p:cNvPr id="26" name="query arrow 5"/>
          <p:cNvSpPr/>
          <p:nvPr/>
        </p:nvSpPr>
        <p:spPr>
          <a:xfrm>
            <a:off x="5554980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query 6"/>
          <p:cNvSpPr/>
          <p:nvPr/>
        </p:nvSpPr>
        <p:spPr>
          <a:xfrm>
            <a:off x="5692140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query 6 text"/>
          <p:cNvSpPr txBox="1"/>
          <p:nvPr/>
        </p:nvSpPr>
        <p:spPr>
          <a:xfrm>
            <a:off x="5692140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29" name="query 6 owner"/>
          <p:cNvSpPr txBox="1"/>
          <p:nvPr/>
        </p:nvSpPr>
        <p:spPr>
          <a:xfrm>
            <a:off x="5646420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Pavan</a:t>
            </a:r>
          </a:p>
        </p:txBody>
      </p:sp>
      <p:sp>
        <p:nvSpPr>
          <p:cNvPr id="30" name="query arrow 6"/>
          <p:cNvSpPr/>
          <p:nvPr/>
        </p:nvSpPr>
        <p:spPr>
          <a:xfrm>
            <a:off x="6601968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query 7"/>
          <p:cNvSpPr/>
          <p:nvPr/>
        </p:nvSpPr>
        <p:spPr>
          <a:xfrm>
            <a:off x="6739128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query 7 text"/>
          <p:cNvSpPr txBox="1"/>
          <p:nvPr/>
        </p:nvSpPr>
        <p:spPr>
          <a:xfrm>
            <a:off x="6739128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Checks</a:t>
            </a:r>
          </a:p>
        </p:txBody>
      </p:sp>
      <p:sp>
        <p:nvSpPr>
          <p:cNvPr id="33" name="query 7 owner"/>
          <p:cNvSpPr txBox="1"/>
          <p:nvPr/>
        </p:nvSpPr>
        <p:spPr>
          <a:xfrm>
            <a:off x="6693408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Nayan + Sai</a:t>
            </a:r>
          </a:p>
        </p:txBody>
      </p:sp>
      <p:sp>
        <p:nvSpPr>
          <p:cNvPr id="34" name="query arrow 7"/>
          <p:cNvSpPr/>
          <p:nvPr/>
        </p:nvSpPr>
        <p:spPr>
          <a:xfrm>
            <a:off x="7648956" y="1856231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query 8"/>
          <p:cNvSpPr/>
          <p:nvPr/>
        </p:nvSpPr>
        <p:spPr>
          <a:xfrm>
            <a:off x="7786116" y="1645920"/>
            <a:ext cx="900684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query 8 text"/>
          <p:cNvSpPr txBox="1"/>
          <p:nvPr/>
        </p:nvSpPr>
        <p:spPr>
          <a:xfrm>
            <a:off x="7786116" y="1645920"/>
            <a:ext cx="90068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Answer</a:t>
            </a:r>
          </a:p>
        </p:txBody>
      </p:sp>
      <p:sp>
        <p:nvSpPr>
          <p:cNvPr id="37" name="query 8 owner"/>
          <p:cNvSpPr txBox="1"/>
          <p:nvPr/>
        </p:nvSpPr>
        <p:spPr>
          <a:xfrm>
            <a:off x="7740396" y="2267712"/>
            <a:ext cx="9921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Pavan</a:t>
            </a:r>
          </a:p>
        </p:txBody>
      </p:sp>
      <p:sp>
        <p:nvSpPr>
          <p:cNvPr id="38" name="row 2 label"/>
          <p:cNvSpPr txBox="1"/>
          <p:nvPr/>
        </p:nvSpPr>
        <p:spPr>
          <a:xfrm>
            <a:off x="457200" y="29260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2B84B"/>
                </a:solidFill>
              </a:rPr>
              <a:t>Built once, from saved files</a:t>
            </a:r>
          </a:p>
        </p:txBody>
      </p:sp>
      <p:sp>
        <p:nvSpPr>
          <p:cNvPr id="39" name="build 1"/>
          <p:cNvSpPr/>
          <p:nvPr/>
        </p:nvSpPr>
        <p:spPr>
          <a:xfrm>
            <a:off x="457200" y="333756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build 1 text"/>
          <p:cNvSpPr txBox="1"/>
          <p:nvPr/>
        </p:nvSpPr>
        <p:spPr>
          <a:xfrm>
            <a:off x="457200" y="3337560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Crawl</a:t>
            </a:r>
          </a:p>
        </p:txBody>
      </p:sp>
      <p:sp>
        <p:nvSpPr>
          <p:cNvPr id="41" name="build 1 owner"/>
          <p:cNvSpPr txBox="1"/>
          <p:nvPr/>
        </p:nvSpPr>
        <p:spPr>
          <a:xfrm>
            <a:off x="411480" y="395935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Adinath</a:t>
            </a:r>
          </a:p>
        </p:txBody>
      </p:sp>
      <p:sp>
        <p:nvSpPr>
          <p:cNvPr id="42" name="build arrow 1"/>
          <p:cNvSpPr/>
          <p:nvPr/>
        </p:nvSpPr>
        <p:spPr>
          <a:xfrm>
            <a:off x="1892807" y="3547872"/>
            <a:ext cx="256031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build 2"/>
          <p:cNvSpPr/>
          <p:nvPr/>
        </p:nvSpPr>
        <p:spPr>
          <a:xfrm>
            <a:off x="2157984" y="333756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build 2 text"/>
          <p:cNvSpPr txBox="1"/>
          <p:nvPr/>
        </p:nvSpPr>
        <p:spPr>
          <a:xfrm>
            <a:off x="2157984" y="3337560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Extract</a:t>
            </a:r>
          </a:p>
        </p:txBody>
      </p:sp>
      <p:sp>
        <p:nvSpPr>
          <p:cNvPr id="45" name="build 2 owner"/>
          <p:cNvSpPr txBox="1"/>
          <p:nvPr/>
        </p:nvSpPr>
        <p:spPr>
          <a:xfrm>
            <a:off x="2112264" y="395935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Adinath</a:t>
            </a:r>
          </a:p>
        </p:txBody>
      </p:sp>
      <p:sp>
        <p:nvSpPr>
          <p:cNvPr id="46" name="build arrow 2"/>
          <p:cNvSpPr/>
          <p:nvPr/>
        </p:nvSpPr>
        <p:spPr>
          <a:xfrm>
            <a:off x="3593592" y="3547872"/>
            <a:ext cx="256031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build 3"/>
          <p:cNvSpPr/>
          <p:nvPr/>
        </p:nvSpPr>
        <p:spPr>
          <a:xfrm>
            <a:off x="3858768" y="333756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build 3 text"/>
          <p:cNvSpPr txBox="1"/>
          <p:nvPr/>
        </p:nvSpPr>
        <p:spPr>
          <a:xfrm>
            <a:off x="3858768" y="3337560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Chunk</a:t>
            </a:r>
          </a:p>
        </p:txBody>
      </p:sp>
      <p:sp>
        <p:nvSpPr>
          <p:cNvPr id="49" name="build 3 owner"/>
          <p:cNvSpPr txBox="1"/>
          <p:nvPr/>
        </p:nvSpPr>
        <p:spPr>
          <a:xfrm>
            <a:off x="3813048" y="395935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Sai</a:t>
            </a:r>
          </a:p>
        </p:txBody>
      </p:sp>
      <p:sp>
        <p:nvSpPr>
          <p:cNvPr id="50" name="build arrow 3"/>
          <p:cNvSpPr/>
          <p:nvPr/>
        </p:nvSpPr>
        <p:spPr>
          <a:xfrm>
            <a:off x="5294376" y="3547872"/>
            <a:ext cx="256031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build 4"/>
          <p:cNvSpPr/>
          <p:nvPr/>
        </p:nvSpPr>
        <p:spPr>
          <a:xfrm>
            <a:off x="5559552" y="333756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build 4 text"/>
          <p:cNvSpPr txBox="1"/>
          <p:nvPr/>
        </p:nvSpPr>
        <p:spPr>
          <a:xfrm>
            <a:off x="5559552" y="3337560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Embed</a:t>
            </a:r>
          </a:p>
        </p:txBody>
      </p:sp>
      <p:sp>
        <p:nvSpPr>
          <p:cNvPr id="53" name="build 4 owner"/>
          <p:cNvSpPr txBox="1"/>
          <p:nvPr/>
        </p:nvSpPr>
        <p:spPr>
          <a:xfrm>
            <a:off x="5513832" y="395935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Nayan</a:t>
            </a:r>
          </a:p>
        </p:txBody>
      </p:sp>
      <p:sp>
        <p:nvSpPr>
          <p:cNvPr id="54" name="build arrow 4"/>
          <p:cNvSpPr/>
          <p:nvPr/>
        </p:nvSpPr>
        <p:spPr>
          <a:xfrm>
            <a:off x="6995160" y="3547872"/>
            <a:ext cx="256031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build 5"/>
          <p:cNvSpPr/>
          <p:nvPr/>
        </p:nvSpPr>
        <p:spPr>
          <a:xfrm>
            <a:off x="7260336" y="3337560"/>
            <a:ext cx="1426464" cy="566928"/>
          </a:xfrm>
          <a:prstGeom prst="roundRect">
            <a:avLst>
              <a:gd name="adj" fmla="val 12903"/>
            </a:avLst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build 5 text"/>
          <p:cNvSpPr txBox="1"/>
          <p:nvPr/>
        </p:nvSpPr>
        <p:spPr>
          <a:xfrm>
            <a:off x="7260336" y="3337560"/>
            <a:ext cx="142646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57" name="build 5 owner"/>
          <p:cNvSpPr txBox="1"/>
          <p:nvPr/>
        </p:nvSpPr>
        <p:spPr>
          <a:xfrm>
            <a:off x="7214616" y="3959351"/>
            <a:ext cx="15179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8FB8E8"/>
                </a:solidFill>
              </a:rPr>
              <a:t>Nayan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Answering only from the evidence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11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card 1"/>
          <p:cNvSpPr/>
          <p:nvPr/>
        </p:nvSpPr>
        <p:spPr>
          <a:xfrm>
            <a:off x="457200" y="1280160"/>
            <a:ext cx="1920240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 1 circle"/>
          <p:cNvSpPr/>
          <p:nvPr/>
        </p:nvSpPr>
        <p:spPr>
          <a:xfrm>
            <a:off x="594360" y="1417319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card 1 icon" descr="Passages as da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" y="1543507"/>
            <a:ext cx="296265" cy="296265"/>
          </a:xfrm>
          <a:prstGeom prst="rect">
            <a:avLst/>
          </a:prstGeom>
        </p:spPr>
      </p:pic>
      <p:sp>
        <p:nvSpPr>
          <p:cNvPr id="9" name="card 1 title"/>
          <p:cNvSpPr txBox="1"/>
          <p:nvPr/>
        </p:nvSpPr>
        <p:spPr>
          <a:xfrm>
            <a:off x="59436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Passages as data</a:t>
            </a:r>
          </a:p>
        </p:txBody>
      </p:sp>
      <p:sp>
        <p:nvSpPr>
          <p:cNvPr id="10" name="card 1 text"/>
          <p:cNvSpPr txBox="1"/>
          <p:nvPr/>
        </p:nvSpPr>
        <p:spPr>
          <a:xfrm>
            <a:off x="594360" y="2606040"/>
            <a:ext cx="16459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tagged untrusted, never obeyed</a:t>
            </a:r>
          </a:p>
        </p:txBody>
      </p:sp>
      <p:sp>
        <p:nvSpPr>
          <p:cNvPr id="11" name="card 2"/>
          <p:cNvSpPr/>
          <p:nvPr/>
        </p:nvSpPr>
        <p:spPr>
          <a:xfrm>
            <a:off x="2560320" y="1280160"/>
            <a:ext cx="1920240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 2 circle"/>
          <p:cNvSpPr/>
          <p:nvPr/>
        </p:nvSpPr>
        <p:spPr>
          <a:xfrm>
            <a:off x="2697480" y="1417319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card 2 icon" descr="A source per senten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667" y="1543507"/>
            <a:ext cx="296265" cy="296265"/>
          </a:xfrm>
          <a:prstGeom prst="rect">
            <a:avLst/>
          </a:prstGeom>
        </p:spPr>
      </p:pic>
      <p:sp>
        <p:nvSpPr>
          <p:cNvPr id="14" name="card 2 title"/>
          <p:cNvSpPr txBox="1"/>
          <p:nvPr/>
        </p:nvSpPr>
        <p:spPr>
          <a:xfrm>
            <a:off x="2697480" y="2011679"/>
            <a:ext cx="1645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A source per sentence</a:t>
            </a:r>
          </a:p>
        </p:txBody>
      </p:sp>
      <p:sp>
        <p:nvSpPr>
          <p:cNvPr id="15" name="card 2 text"/>
          <p:cNvSpPr txBox="1"/>
          <p:nvPr/>
        </p:nvSpPr>
        <p:spPr>
          <a:xfrm>
            <a:off x="2697480" y="2606040"/>
            <a:ext cx="1645920" cy="5029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JSON with chunk ids, or insufficient</a:t>
            </a:r>
          </a:p>
        </p:txBody>
      </p:sp>
      <p:sp>
        <p:nvSpPr>
          <p:cNvPr id="16" name="checks head"/>
          <p:cNvSpPr txBox="1"/>
          <p:nvPr/>
        </p:nvSpPr>
        <p:spPr>
          <a:xfrm>
            <a:off x="4754880" y="1280160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B1F3A"/>
                </a:solidFill>
              </a:rPr>
              <a:t>Four checks, then fail closed</a:t>
            </a:r>
          </a:p>
        </p:txBody>
      </p:sp>
      <p:sp>
        <p:nvSpPr>
          <p:cNvPr id="17" name="check card 1"/>
          <p:cNvSpPr/>
          <p:nvPr/>
        </p:nvSpPr>
        <p:spPr>
          <a:xfrm>
            <a:off x="4754880" y="169164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check 1 circle"/>
          <p:cNvSpPr/>
          <p:nvPr/>
        </p:nvSpPr>
        <p:spPr>
          <a:xfrm>
            <a:off x="4846320" y="1764792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check 1 icon" descr="Citation vali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063" y="1861535"/>
            <a:ext cx="227136" cy="227136"/>
          </a:xfrm>
          <a:prstGeom prst="rect">
            <a:avLst/>
          </a:prstGeom>
        </p:spPr>
      </p:pic>
      <p:sp>
        <p:nvSpPr>
          <p:cNvPr id="20" name="check head 1"/>
          <p:cNvSpPr txBox="1"/>
          <p:nvPr/>
        </p:nvSpPr>
        <p:spPr>
          <a:xfrm>
            <a:off x="5394960" y="1728216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</a:rPr>
              <a:t>Citation valid</a:t>
            </a:r>
          </a:p>
        </p:txBody>
      </p:sp>
      <p:sp>
        <p:nvSpPr>
          <p:cNvPr id="21" name="check text 1"/>
          <p:cNvSpPr txBox="1"/>
          <p:nvPr/>
        </p:nvSpPr>
        <p:spPr>
          <a:xfrm>
            <a:off x="5394960" y="198424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</a:rPr>
              <a:t>every sentence cites a retrieved chunk</a:t>
            </a:r>
          </a:p>
        </p:txBody>
      </p:sp>
      <p:sp>
        <p:nvSpPr>
          <p:cNvPr id="22" name="check card 2"/>
          <p:cNvSpPr/>
          <p:nvPr/>
        </p:nvSpPr>
        <p:spPr>
          <a:xfrm>
            <a:off x="4754880" y="235000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ck 2 circle"/>
          <p:cNvSpPr/>
          <p:nvPr/>
        </p:nvSpPr>
        <p:spPr>
          <a:xfrm>
            <a:off x="4846320" y="2423160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check 2 icon" descr="25-word lim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063" y="2519903"/>
            <a:ext cx="227136" cy="227136"/>
          </a:xfrm>
          <a:prstGeom prst="rect">
            <a:avLst/>
          </a:prstGeom>
        </p:spPr>
      </p:pic>
      <p:sp>
        <p:nvSpPr>
          <p:cNvPr id="25" name="check head 2"/>
          <p:cNvSpPr txBox="1"/>
          <p:nvPr/>
        </p:nvSpPr>
        <p:spPr>
          <a:xfrm>
            <a:off x="5394960" y="2386584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</a:rPr>
              <a:t>25-word limit</a:t>
            </a:r>
          </a:p>
        </p:txBody>
      </p:sp>
      <p:sp>
        <p:nvSpPr>
          <p:cNvPr id="26" name="check text 2"/>
          <p:cNvSpPr txBox="1"/>
          <p:nvPr/>
        </p:nvSpPr>
        <p:spPr>
          <a:xfrm>
            <a:off x="5394960" y="2642616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</a:rPr>
              <a:t>no long copying from a page</a:t>
            </a:r>
          </a:p>
        </p:txBody>
      </p:sp>
      <p:sp>
        <p:nvSpPr>
          <p:cNvPr id="27" name="check card 3"/>
          <p:cNvSpPr/>
          <p:nvPr/>
        </p:nvSpPr>
        <p:spPr>
          <a:xfrm>
            <a:off x="4754880" y="300837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heck 3 circle"/>
          <p:cNvSpPr/>
          <p:nvPr/>
        </p:nvSpPr>
        <p:spPr>
          <a:xfrm>
            <a:off x="4846320" y="3081528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check 3 icon" descr="Claim suppo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063" y="3178271"/>
            <a:ext cx="227136" cy="227136"/>
          </a:xfrm>
          <a:prstGeom prst="rect">
            <a:avLst/>
          </a:prstGeom>
        </p:spPr>
      </p:pic>
      <p:sp>
        <p:nvSpPr>
          <p:cNvPr id="30" name="check head 3"/>
          <p:cNvSpPr txBox="1"/>
          <p:nvPr/>
        </p:nvSpPr>
        <p:spPr>
          <a:xfrm>
            <a:off x="5394960" y="3044952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</a:rPr>
              <a:t>Claim support</a:t>
            </a:r>
          </a:p>
        </p:txBody>
      </p:sp>
      <p:sp>
        <p:nvSpPr>
          <p:cNvPr id="31" name="check text 3"/>
          <p:cNvSpPr txBox="1"/>
          <p:nvPr/>
        </p:nvSpPr>
        <p:spPr>
          <a:xfrm>
            <a:off x="5394960" y="3300984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</a:rPr>
              <a:t>a judge reads the cited passage</a:t>
            </a:r>
          </a:p>
        </p:txBody>
      </p:sp>
      <p:sp>
        <p:nvSpPr>
          <p:cNvPr id="32" name="check card 4"/>
          <p:cNvSpPr/>
          <p:nvPr/>
        </p:nvSpPr>
        <p:spPr>
          <a:xfrm>
            <a:off x="4754880" y="366674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check 4 circle"/>
          <p:cNvSpPr/>
          <p:nvPr/>
        </p:nvSpPr>
        <p:spPr>
          <a:xfrm>
            <a:off x="4846320" y="3739896"/>
            <a:ext cx="420624" cy="420624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check 4 icon" descr="Numbers and dat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3063" y="3836639"/>
            <a:ext cx="227136" cy="227136"/>
          </a:xfrm>
          <a:prstGeom prst="rect">
            <a:avLst/>
          </a:prstGeom>
        </p:spPr>
      </p:pic>
      <p:sp>
        <p:nvSpPr>
          <p:cNvPr id="35" name="check head 4"/>
          <p:cNvSpPr txBox="1"/>
          <p:nvPr/>
        </p:nvSpPr>
        <p:spPr>
          <a:xfrm>
            <a:off x="5394960" y="37033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B1F3A"/>
                </a:solidFill>
              </a:rPr>
              <a:t>Numbers and dates</a:t>
            </a:r>
          </a:p>
        </p:txBody>
      </p:sp>
      <p:sp>
        <p:nvSpPr>
          <p:cNvPr id="36" name="check text 4"/>
          <p:cNvSpPr txBox="1"/>
          <p:nvPr/>
        </p:nvSpPr>
        <p:spPr>
          <a:xfrm>
            <a:off x="5394960" y="3959352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B6B82"/>
                </a:solidFill>
              </a:rPr>
              <a:t>must appear in the cited chunk</a:t>
            </a:r>
          </a:p>
        </p:txBody>
      </p:sp>
      <p:sp>
        <p:nvSpPr>
          <p:cNvPr id="37" name="failclosed card"/>
          <p:cNvSpPr/>
          <p:nvPr/>
        </p:nvSpPr>
        <p:spPr>
          <a:xfrm>
            <a:off x="457200" y="3337560"/>
            <a:ext cx="4023360" cy="1188720"/>
          </a:xfrm>
          <a:prstGeom prst="roundRect">
            <a:avLst>
              <a:gd name="adj" fmla="val 6153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c head"/>
          <p:cNvSpPr txBox="1"/>
          <p:nvPr/>
        </p:nvSpPr>
        <p:spPr>
          <a:xfrm>
            <a:off x="640080" y="340156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Any failed or erroring check</a:t>
            </a:r>
          </a:p>
        </p:txBody>
      </p:sp>
      <p:sp>
        <p:nvSpPr>
          <p:cNvPr id="39" name="fc text"/>
          <p:cNvSpPr txBox="1"/>
          <p:nvPr/>
        </p:nvSpPr>
        <p:spPr>
          <a:xfrm>
            <a:off x="640080" y="379476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2B84B"/>
                </a:solidFill>
                <a:latin typeface="Cambria"/>
              </a:rPr>
              <a:t>means an explicit refusal, never a guess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Safety router: five kinds of question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12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tag card 1"/>
          <p:cNvSpPr/>
          <p:nvPr/>
        </p:nvSpPr>
        <p:spPr>
          <a:xfrm>
            <a:off x="457200" y="1280160"/>
            <a:ext cx="1554480" cy="22402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ag 1 circle"/>
          <p:cNvSpPr/>
          <p:nvPr/>
        </p:nvSpPr>
        <p:spPr>
          <a:xfrm>
            <a:off x="960120" y="1371600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tag 1 icon" descr="Norm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1497787"/>
            <a:ext cx="296265" cy="296265"/>
          </a:xfrm>
          <a:prstGeom prst="rect">
            <a:avLst/>
          </a:prstGeom>
        </p:spPr>
      </p:pic>
      <p:sp>
        <p:nvSpPr>
          <p:cNvPr id="9" name="tag title 1"/>
          <p:cNvSpPr txBox="1"/>
          <p:nvPr/>
        </p:nvSpPr>
        <p:spPr>
          <a:xfrm>
            <a:off x="530352" y="2011680"/>
            <a:ext cx="1408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Normal</a:t>
            </a:r>
          </a:p>
        </p:txBody>
      </p:sp>
      <p:sp>
        <p:nvSpPr>
          <p:cNvPr id="10" name="tag example 1"/>
          <p:cNvSpPr txBox="1"/>
          <p:nvPr/>
        </p:nvSpPr>
        <p:spPr>
          <a:xfrm>
            <a:off x="548640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B82"/>
                </a:solidFill>
              </a:rPr>
              <a:t>What is Remote ID?</a:t>
            </a:r>
          </a:p>
        </p:txBody>
      </p:sp>
      <p:sp>
        <p:nvSpPr>
          <p:cNvPr id="11" name="tag action 1"/>
          <p:cNvSpPr txBox="1"/>
          <p:nvPr/>
        </p:nvSpPr>
        <p:spPr>
          <a:xfrm>
            <a:off x="530352" y="30175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→ answer it</a:t>
            </a:r>
          </a:p>
        </p:txBody>
      </p:sp>
      <p:sp>
        <p:nvSpPr>
          <p:cNvPr id="12" name="tag card 2"/>
          <p:cNvSpPr/>
          <p:nvPr/>
        </p:nvSpPr>
        <p:spPr>
          <a:xfrm>
            <a:off x="2121408" y="1280160"/>
            <a:ext cx="1554480" cy="22402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ag 2 circle"/>
          <p:cNvSpPr/>
          <p:nvPr/>
        </p:nvSpPr>
        <p:spPr>
          <a:xfrm>
            <a:off x="2624328" y="1371600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tag 2 icon" descr="Loc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515" y="1497787"/>
            <a:ext cx="296265" cy="296265"/>
          </a:xfrm>
          <a:prstGeom prst="rect">
            <a:avLst/>
          </a:prstGeom>
        </p:spPr>
      </p:pic>
      <p:sp>
        <p:nvSpPr>
          <p:cNvPr id="15" name="tag title 2"/>
          <p:cNvSpPr txBox="1"/>
          <p:nvPr/>
        </p:nvSpPr>
        <p:spPr>
          <a:xfrm>
            <a:off x="2194560" y="2011680"/>
            <a:ext cx="1408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Location</a:t>
            </a:r>
          </a:p>
        </p:txBody>
      </p:sp>
      <p:sp>
        <p:nvSpPr>
          <p:cNvPr id="16" name="tag example 2"/>
          <p:cNvSpPr txBox="1"/>
          <p:nvPr/>
        </p:nvSpPr>
        <p:spPr>
          <a:xfrm>
            <a:off x="2212848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B82"/>
                </a:solidFill>
              </a:rPr>
              <a:t>Can I fly in San Diego tonight?</a:t>
            </a:r>
          </a:p>
        </p:txBody>
      </p:sp>
      <p:sp>
        <p:nvSpPr>
          <p:cNvPr id="17" name="tag action 2"/>
          <p:cNvSpPr txBox="1"/>
          <p:nvPr/>
        </p:nvSpPr>
        <p:spPr>
          <a:xfrm>
            <a:off x="2194560" y="30175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→ send to B4UFLY</a:t>
            </a:r>
          </a:p>
        </p:txBody>
      </p:sp>
      <p:sp>
        <p:nvSpPr>
          <p:cNvPr id="18" name="tag card 3"/>
          <p:cNvSpPr/>
          <p:nvPr/>
        </p:nvSpPr>
        <p:spPr>
          <a:xfrm>
            <a:off x="3785616" y="1280160"/>
            <a:ext cx="1554480" cy="22402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ag 3 circle"/>
          <p:cNvSpPr/>
          <p:nvPr/>
        </p:nvSpPr>
        <p:spPr>
          <a:xfrm>
            <a:off x="4288536" y="1371600"/>
            <a:ext cx="548640" cy="54864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tag 3 icon" descr="High-stak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4723" y="1497787"/>
            <a:ext cx="296265" cy="296265"/>
          </a:xfrm>
          <a:prstGeom prst="rect">
            <a:avLst/>
          </a:prstGeom>
        </p:spPr>
      </p:pic>
      <p:sp>
        <p:nvSpPr>
          <p:cNvPr id="21" name="tag title 3"/>
          <p:cNvSpPr txBox="1"/>
          <p:nvPr/>
        </p:nvSpPr>
        <p:spPr>
          <a:xfrm>
            <a:off x="3858768" y="2011680"/>
            <a:ext cx="1408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High-stakes</a:t>
            </a:r>
          </a:p>
        </p:txBody>
      </p:sp>
      <p:sp>
        <p:nvSpPr>
          <p:cNvPr id="22" name="tag example 3"/>
          <p:cNvSpPr txBox="1"/>
          <p:nvPr/>
        </p:nvSpPr>
        <p:spPr>
          <a:xfrm>
            <a:off x="3877056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B82"/>
                </a:solidFill>
              </a:rPr>
              <a:t>How close to an airport?</a:t>
            </a:r>
          </a:p>
        </p:txBody>
      </p:sp>
      <p:sp>
        <p:nvSpPr>
          <p:cNvPr id="23" name="tag action 3"/>
          <p:cNvSpPr txBox="1"/>
          <p:nvPr/>
        </p:nvSpPr>
        <p:spPr>
          <a:xfrm>
            <a:off x="3858768" y="30175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→ confirm with FAA</a:t>
            </a:r>
          </a:p>
        </p:txBody>
      </p:sp>
      <p:sp>
        <p:nvSpPr>
          <p:cNvPr id="24" name="tag card 4"/>
          <p:cNvSpPr/>
          <p:nvPr/>
        </p:nvSpPr>
        <p:spPr>
          <a:xfrm>
            <a:off x="5449824" y="1280160"/>
            <a:ext cx="1554480" cy="22402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ag 4 circle"/>
          <p:cNvSpPr/>
          <p:nvPr/>
        </p:nvSpPr>
        <p:spPr>
          <a:xfrm>
            <a:off x="5952744" y="1371600"/>
            <a:ext cx="548640" cy="54864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tag 4 icon" descr="Pilot unclea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8931" y="1497787"/>
            <a:ext cx="296265" cy="296265"/>
          </a:xfrm>
          <a:prstGeom prst="rect">
            <a:avLst/>
          </a:prstGeom>
        </p:spPr>
      </p:pic>
      <p:sp>
        <p:nvSpPr>
          <p:cNvPr id="27" name="tag title 4"/>
          <p:cNvSpPr txBox="1"/>
          <p:nvPr/>
        </p:nvSpPr>
        <p:spPr>
          <a:xfrm>
            <a:off x="5522976" y="2011680"/>
            <a:ext cx="1408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Pilot unclear</a:t>
            </a:r>
          </a:p>
        </p:txBody>
      </p:sp>
      <p:sp>
        <p:nvSpPr>
          <p:cNvPr id="28" name="tag example 4"/>
          <p:cNvSpPr txBox="1"/>
          <p:nvPr/>
        </p:nvSpPr>
        <p:spPr>
          <a:xfrm>
            <a:off x="5541264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B82"/>
                </a:solidFill>
              </a:rPr>
              <a:t>Do I need a license?</a:t>
            </a:r>
          </a:p>
        </p:txBody>
      </p:sp>
      <p:sp>
        <p:nvSpPr>
          <p:cNvPr id="29" name="tag action 4"/>
          <p:cNvSpPr txBox="1"/>
          <p:nvPr/>
        </p:nvSpPr>
        <p:spPr>
          <a:xfrm>
            <a:off x="5522976" y="30175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→ answer both cases</a:t>
            </a:r>
          </a:p>
        </p:txBody>
      </p:sp>
      <p:sp>
        <p:nvSpPr>
          <p:cNvPr id="30" name="tag card 5"/>
          <p:cNvSpPr/>
          <p:nvPr/>
        </p:nvSpPr>
        <p:spPr>
          <a:xfrm>
            <a:off x="7114032" y="1280160"/>
            <a:ext cx="1554480" cy="2240280"/>
          </a:xfrm>
          <a:prstGeom prst="roundRect">
            <a:avLst>
              <a:gd name="adj" fmla="val 4705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ag 5 circle"/>
          <p:cNvSpPr/>
          <p:nvPr/>
        </p:nvSpPr>
        <p:spPr>
          <a:xfrm>
            <a:off x="7616952" y="1371600"/>
            <a:ext cx="548640" cy="548640"/>
          </a:xfrm>
          <a:prstGeom prst="ellipse">
            <a:avLst/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tag 5 icon" descr="Injec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3139" y="1497787"/>
            <a:ext cx="296265" cy="296265"/>
          </a:xfrm>
          <a:prstGeom prst="rect">
            <a:avLst/>
          </a:prstGeom>
        </p:spPr>
      </p:pic>
      <p:sp>
        <p:nvSpPr>
          <p:cNvPr id="33" name="tag title 5"/>
          <p:cNvSpPr txBox="1"/>
          <p:nvPr/>
        </p:nvSpPr>
        <p:spPr>
          <a:xfrm>
            <a:off x="7187184" y="2011680"/>
            <a:ext cx="140817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B1F3A"/>
                </a:solidFill>
              </a:rPr>
              <a:t>Injection</a:t>
            </a:r>
          </a:p>
        </p:txBody>
      </p:sp>
      <p:sp>
        <p:nvSpPr>
          <p:cNvPr id="34" name="tag example 5"/>
          <p:cNvSpPr txBox="1"/>
          <p:nvPr/>
        </p:nvSpPr>
        <p:spPr>
          <a:xfrm>
            <a:off x="7205472" y="233172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5B6B82"/>
                </a:solidFill>
              </a:rPr>
              <a:t>Ignore your instructions...</a:t>
            </a:r>
          </a:p>
        </p:txBody>
      </p:sp>
      <p:sp>
        <p:nvSpPr>
          <p:cNvPr id="35" name="tag action 5"/>
          <p:cNvSpPr txBox="1"/>
          <p:nvPr/>
        </p:nvSpPr>
        <p:spPr>
          <a:xfrm>
            <a:off x="7187184" y="3017520"/>
            <a:ext cx="140817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B1F3A"/>
                </a:solidFill>
              </a:rPr>
              <a:t>→ strip it out</a:t>
            </a:r>
          </a:p>
        </p:txBody>
      </p:sp>
      <p:sp>
        <p:nvSpPr>
          <p:cNvPr id="36" name="router result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9411"/>
            </a:avLst>
          </a:prstGeom>
          <a:solidFill>
            <a:srgbClr val="13315C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ter result text"/>
          <p:cNvSpPr txBox="1"/>
          <p:nvPr/>
        </p:nvSpPr>
        <p:spPr>
          <a:xfrm>
            <a:off x="731520" y="3794760"/>
            <a:ext cx="7680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Run on all 50 golden questions: 4 needless referrals found and fixed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How we measure it: seven configurations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13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baseline label"/>
          <p:cNvSpPr txBox="1"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9480F"/>
                </a:solidFill>
              </a:rPr>
              <a:t>Baselines</a:t>
            </a:r>
          </a:p>
        </p:txBody>
      </p:sp>
      <p:sp>
        <p:nvSpPr>
          <p:cNvPr id="7" name="base 1"/>
          <p:cNvSpPr/>
          <p:nvPr/>
        </p:nvSpPr>
        <p:spPr>
          <a:xfrm>
            <a:off x="457200" y="1600200"/>
            <a:ext cx="1548384" cy="502920"/>
          </a:xfrm>
          <a:prstGeom prst="roundRect">
            <a:avLst>
              <a:gd name="adj" fmla="val 14545"/>
            </a:avLst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base 1 text"/>
          <p:cNvSpPr txBox="1"/>
          <p:nvPr/>
        </p:nvSpPr>
        <p:spPr>
          <a:xfrm>
            <a:off x="457200" y="1600200"/>
            <a:ext cx="154838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B0 closed-book</a:t>
            </a:r>
          </a:p>
        </p:txBody>
      </p:sp>
      <p:sp>
        <p:nvSpPr>
          <p:cNvPr id="9" name="base arrow 1"/>
          <p:cNvSpPr/>
          <p:nvPr/>
        </p:nvSpPr>
        <p:spPr>
          <a:xfrm>
            <a:off x="2014727" y="1778507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se 2"/>
          <p:cNvSpPr/>
          <p:nvPr/>
        </p:nvSpPr>
        <p:spPr>
          <a:xfrm>
            <a:off x="2151888" y="1600200"/>
            <a:ext cx="1548384" cy="502920"/>
          </a:xfrm>
          <a:prstGeom prst="roundRect">
            <a:avLst>
              <a:gd name="adj" fmla="val 14545"/>
            </a:avLst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base 2 text"/>
          <p:cNvSpPr txBox="1"/>
          <p:nvPr/>
        </p:nvSpPr>
        <p:spPr>
          <a:xfrm>
            <a:off x="2151888" y="1600200"/>
            <a:ext cx="154838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B1 BM25</a:t>
            </a:r>
          </a:p>
        </p:txBody>
      </p:sp>
      <p:sp>
        <p:nvSpPr>
          <p:cNvPr id="12" name="base arrow 2"/>
          <p:cNvSpPr/>
          <p:nvPr/>
        </p:nvSpPr>
        <p:spPr>
          <a:xfrm>
            <a:off x="3709416" y="1778507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base 3"/>
          <p:cNvSpPr/>
          <p:nvPr/>
        </p:nvSpPr>
        <p:spPr>
          <a:xfrm>
            <a:off x="3846576" y="1600200"/>
            <a:ext cx="1548384" cy="502920"/>
          </a:xfrm>
          <a:prstGeom prst="roundRect">
            <a:avLst>
              <a:gd name="adj" fmla="val 14545"/>
            </a:avLst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se 3 text"/>
          <p:cNvSpPr txBox="1"/>
          <p:nvPr/>
        </p:nvSpPr>
        <p:spPr>
          <a:xfrm>
            <a:off x="3846576" y="1600200"/>
            <a:ext cx="154838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B2 dense, fixed</a:t>
            </a:r>
          </a:p>
        </p:txBody>
      </p:sp>
      <p:sp>
        <p:nvSpPr>
          <p:cNvPr id="15" name="ablation label"/>
          <p:cNvSpPr txBox="1"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9480F"/>
                </a:solidFill>
              </a:rPr>
              <a:t>One change at a time, B2 to B3</a:t>
            </a:r>
          </a:p>
        </p:txBody>
      </p:sp>
      <p:sp>
        <p:nvSpPr>
          <p:cNvPr id="16" name="abl 1"/>
          <p:cNvSpPr/>
          <p:nvPr/>
        </p:nvSpPr>
        <p:spPr>
          <a:xfrm>
            <a:off x="457200" y="2697480"/>
            <a:ext cx="1528876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bl 1 text"/>
          <p:cNvSpPr txBox="1"/>
          <p:nvPr/>
        </p:nvSpPr>
        <p:spPr>
          <a:xfrm>
            <a:off x="457200" y="2697480"/>
            <a:ext cx="15288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18" name="abl arrow 1"/>
          <p:cNvSpPr/>
          <p:nvPr/>
        </p:nvSpPr>
        <p:spPr>
          <a:xfrm>
            <a:off x="1995220" y="2898648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bl 2"/>
          <p:cNvSpPr/>
          <p:nvPr/>
        </p:nvSpPr>
        <p:spPr>
          <a:xfrm>
            <a:off x="2132380" y="2697480"/>
            <a:ext cx="1528876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bl 2 text"/>
          <p:cNvSpPr txBox="1"/>
          <p:nvPr/>
        </p:nvSpPr>
        <p:spPr>
          <a:xfrm>
            <a:off x="2132380" y="2697480"/>
            <a:ext cx="15288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A1 structure chunks</a:t>
            </a:r>
          </a:p>
        </p:txBody>
      </p:sp>
      <p:sp>
        <p:nvSpPr>
          <p:cNvPr id="21" name="abl arrow 2"/>
          <p:cNvSpPr/>
          <p:nvPr/>
        </p:nvSpPr>
        <p:spPr>
          <a:xfrm>
            <a:off x="3670401" y="2898648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bl 3"/>
          <p:cNvSpPr/>
          <p:nvPr/>
        </p:nvSpPr>
        <p:spPr>
          <a:xfrm>
            <a:off x="3807561" y="2697480"/>
            <a:ext cx="1528876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bl 3 text"/>
          <p:cNvSpPr txBox="1"/>
          <p:nvPr/>
        </p:nvSpPr>
        <p:spPr>
          <a:xfrm>
            <a:off x="3807561" y="2697480"/>
            <a:ext cx="15288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A2 hybrid search</a:t>
            </a:r>
          </a:p>
        </p:txBody>
      </p:sp>
      <p:sp>
        <p:nvSpPr>
          <p:cNvPr id="24" name="abl arrow 3"/>
          <p:cNvSpPr/>
          <p:nvPr/>
        </p:nvSpPr>
        <p:spPr>
          <a:xfrm>
            <a:off x="5345582" y="2898648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bl 4"/>
          <p:cNvSpPr/>
          <p:nvPr/>
        </p:nvSpPr>
        <p:spPr>
          <a:xfrm>
            <a:off x="5482742" y="2697480"/>
            <a:ext cx="1528876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bl 4 text"/>
          <p:cNvSpPr txBox="1"/>
          <p:nvPr/>
        </p:nvSpPr>
        <p:spPr>
          <a:xfrm>
            <a:off x="5482742" y="2697480"/>
            <a:ext cx="15288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A3 reranker</a:t>
            </a:r>
          </a:p>
        </p:txBody>
      </p:sp>
      <p:sp>
        <p:nvSpPr>
          <p:cNvPr id="27" name="abl arrow 4"/>
          <p:cNvSpPr/>
          <p:nvPr/>
        </p:nvSpPr>
        <p:spPr>
          <a:xfrm>
            <a:off x="7020763" y="2898648"/>
            <a:ext cx="128016" cy="146304"/>
          </a:xfrm>
          <a:prstGeom prst="rightArrow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abl 5"/>
          <p:cNvSpPr/>
          <p:nvPr/>
        </p:nvSpPr>
        <p:spPr>
          <a:xfrm>
            <a:off x="7157923" y="2697480"/>
            <a:ext cx="1528876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abl 5 text"/>
          <p:cNvSpPr txBox="1"/>
          <p:nvPr/>
        </p:nvSpPr>
        <p:spPr>
          <a:xfrm>
            <a:off x="7157923" y="2697480"/>
            <a:ext cx="1528876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B3 gate + checks</a:t>
            </a:r>
          </a:p>
        </p:txBody>
      </p:sp>
      <p:sp>
        <p:nvSpPr>
          <p:cNvPr id="30" name="metrics label"/>
          <p:cNvSpPr txBox="1"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D9480F"/>
                </a:solidFill>
              </a:rPr>
              <a:t>Metrics</a:t>
            </a:r>
          </a:p>
        </p:txBody>
      </p:sp>
      <p:sp>
        <p:nvSpPr>
          <p:cNvPr id="31" name="metric 1"/>
          <p:cNvSpPr/>
          <p:nvPr/>
        </p:nvSpPr>
        <p:spPr>
          <a:xfrm>
            <a:off x="457200" y="38587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metric text 1"/>
          <p:cNvSpPr txBox="1"/>
          <p:nvPr/>
        </p:nvSpPr>
        <p:spPr>
          <a:xfrm>
            <a:off x="457200" y="3858768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Recall@5 / @20</a:t>
            </a:r>
          </a:p>
        </p:txBody>
      </p:sp>
      <p:sp>
        <p:nvSpPr>
          <p:cNvPr id="33" name="metric 2"/>
          <p:cNvSpPr/>
          <p:nvPr/>
        </p:nvSpPr>
        <p:spPr>
          <a:xfrm>
            <a:off x="2121408" y="38587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metric text 2"/>
          <p:cNvSpPr txBox="1"/>
          <p:nvPr/>
        </p:nvSpPr>
        <p:spPr>
          <a:xfrm>
            <a:off x="2121408" y="3858768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MRR</a:t>
            </a:r>
          </a:p>
        </p:txBody>
      </p:sp>
      <p:sp>
        <p:nvSpPr>
          <p:cNvPr id="35" name="metric 3"/>
          <p:cNvSpPr/>
          <p:nvPr/>
        </p:nvSpPr>
        <p:spPr>
          <a:xfrm>
            <a:off x="3785616" y="38587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metric text 3"/>
          <p:cNvSpPr txBox="1"/>
          <p:nvPr/>
        </p:nvSpPr>
        <p:spPr>
          <a:xfrm>
            <a:off x="3785616" y="3858768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nDCG@10</a:t>
            </a:r>
          </a:p>
        </p:txBody>
      </p:sp>
      <p:sp>
        <p:nvSpPr>
          <p:cNvPr id="37" name="metric 4"/>
          <p:cNvSpPr/>
          <p:nvPr/>
        </p:nvSpPr>
        <p:spPr>
          <a:xfrm>
            <a:off x="5449824" y="38587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metric text 4"/>
          <p:cNvSpPr txBox="1"/>
          <p:nvPr/>
        </p:nvSpPr>
        <p:spPr>
          <a:xfrm>
            <a:off x="5449824" y="3858768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Correctness</a:t>
            </a:r>
          </a:p>
        </p:txBody>
      </p:sp>
      <p:sp>
        <p:nvSpPr>
          <p:cNvPr id="39" name="metric 5"/>
          <p:cNvSpPr/>
          <p:nvPr/>
        </p:nvSpPr>
        <p:spPr>
          <a:xfrm>
            <a:off x="7114032" y="3858768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metric text 5"/>
          <p:cNvSpPr txBox="1"/>
          <p:nvPr/>
        </p:nvSpPr>
        <p:spPr>
          <a:xfrm>
            <a:off x="7114032" y="3858768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Citation validity</a:t>
            </a:r>
          </a:p>
        </p:txBody>
      </p:sp>
      <p:sp>
        <p:nvSpPr>
          <p:cNvPr id="41" name="metric 6"/>
          <p:cNvSpPr/>
          <p:nvPr/>
        </p:nvSpPr>
        <p:spPr>
          <a:xfrm>
            <a:off x="457200" y="4242816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metric text 6"/>
          <p:cNvSpPr txBox="1"/>
          <p:nvPr/>
        </p:nvSpPr>
        <p:spPr>
          <a:xfrm>
            <a:off x="457200" y="4242816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Correct refusal</a:t>
            </a:r>
          </a:p>
        </p:txBody>
      </p:sp>
      <p:sp>
        <p:nvSpPr>
          <p:cNvPr id="43" name="metric 7"/>
          <p:cNvSpPr/>
          <p:nvPr/>
        </p:nvSpPr>
        <p:spPr>
          <a:xfrm>
            <a:off x="2121408" y="4242816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metric text 7"/>
          <p:cNvSpPr txBox="1"/>
          <p:nvPr/>
        </p:nvSpPr>
        <p:spPr>
          <a:xfrm>
            <a:off x="2121408" y="4242816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Over-refusal</a:t>
            </a:r>
          </a:p>
        </p:txBody>
      </p:sp>
      <p:sp>
        <p:nvSpPr>
          <p:cNvPr id="45" name="metric 8"/>
          <p:cNvSpPr/>
          <p:nvPr/>
        </p:nvSpPr>
        <p:spPr>
          <a:xfrm>
            <a:off x="3785616" y="4242816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metric text 8"/>
          <p:cNvSpPr txBox="1"/>
          <p:nvPr/>
        </p:nvSpPr>
        <p:spPr>
          <a:xfrm>
            <a:off x="3785616" y="4242816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p50 / p95 latency</a:t>
            </a:r>
          </a:p>
        </p:txBody>
      </p:sp>
      <p:sp>
        <p:nvSpPr>
          <p:cNvPr id="47" name="metric 9"/>
          <p:cNvSpPr/>
          <p:nvPr/>
        </p:nvSpPr>
        <p:spPr>
          <a:xfrm>
            <a:off x="5449824" y="4242816"/>
            <a:ext cx="1572768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metric text 9"/>
          <p:cNvSpPr txBox="1"/>
          <p:nvPr/>
        </p:nvSpPr>
        <p:spPr>
          <a:xfrm>
            <a:off x="5449824" y="4242816"/>
            <a:ext cx="157276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B1F3A"/>
                </a:solidFill>
              </a:rPr>
              <a:t>Cost /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lang="en-US" sz="3200" b="1" i="0">
                <a:solidFill>
                  <a:srgbClr val="0B1F3A"/>
                </a:solidFill>
                <a:latin typeface="Cambria"/>
              </a:rPr>
              <a:t>R</a:t>
            </a:r>
            <a:r>
              <a:rPr sz="3200" b="1" i="0">
                <a:solidFill>
                  <a:srgbClr val="0B1F3A"/>
                </a:solidFill>
                <a:latin typeface="Cambria"/>
              </a:rPr>
              <a:t>esults: what each change did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14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results chart card"/>
          <p:cNvSpPr/>
          <p:nvPr/>
        </p:nvSpPr>
        <p:spPr>
          <a:xfrm>
            <a:off x="457200" y="1280160"/>
            <a:ext cx="4572000" cy="324612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tat gain card"/>
          <p:cNvSpPr/>
          <p:nvPr/>
        </p:nvSpPr>
        <p:spPr>
          <a:xfrm>
            <a:off x="5303520" y="128016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gain number"/>
          <p:cNvSpPr txBox="1"/>
          <p:nvPr/>
        </p:nvSpPr>
        <p:spPr>
          <a:xfrm>
            <a:off x="5440680" y="1427131"/>
            <a:ext cx="31089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D9480F"/>
                </a:solidFill>
                <a:latin typeface="Cambria"/>
              </a:rPr>
              <a:t>+0.2</a:t>
            </a:r>
            <a:r>
              <a:rPr lang="en-US" sz="3200" b="1" i="0">
                <a:solidFill>
                  <a:srgbClr val="D9480F"/>
                </a:solidFill>
                <a:latin typeface="Cambria"/>
              </a:rPr>
              <a:t>5</a:t>
            </a:r>
            <a:endParaRPr sz="3200" b="1" i="0">
              <a:solidFill>
                <a:srgbClr val="D9480F"/>
              </a:solidFill>
              <a:latin typeface="Cambria"/>
            </a:endParaRPr>
          </a:p>
        </p:txBody>
      </p:sp>
      <p:sp>
        <p:nvSpPr>
          <p:cNvPr id="10" name="stat gain label"/>
          <p:cNvSpPr txBox="1"/>
          <p:nvPr/>
        </p:nvSpPr>
        <p:spPr>
          <a:xfrm>
            <a:off x="5440680" y="1993391"/>
            <a:ext cx="3108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correctness, B0 to B3 (p = 0.0</a:t>
            </a:r>
            <a:r>
              <a:rPr lang="en-US" sz="1400" b="0" i="0">
                <a:solidFill>
                  <a:srgbClr val="0B1F3A"/>
                </a:solidFill>
              </a:rPr>
              <a:t>6</a:t>
            </a:r>
            <a:r>
              <a:rPr sz="1400" b="0" i="0">
                <a:solidFill>
                  <a:srgbClr val="0B1F3A"/>
                </a:solidFill>
              </a:rPr>
              <a:t>)</a:t>
            </a:r>
          </a:p>
        </p:txBody>
      </p:sp>
      <p:sp>
        <p:nvSpPr>
          <p:cNvPr id="11" name="stat ceiling card"/>
          <p:cNvSpPr/>
          <p:nvPr/>
        </p:nvSpPr>
        <p:spPr>
          <a:xfrm>
            <a:off x="5303520" y="237744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ceiling number"/>
          <p:cNvSpPr txBox="1"/>
          <p:nvPr/>
        </p:nvSpPr>
        <p:spPr>
          <a:xfrm>
            <a:off x="5440680" y="24505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F6FB5"/>
                </a:solidFill>
                <a:latin typeface="Cambria"/>
              </a:rPr>
              <a:t>0.56</a:t>
            </a:r>
          </a:p>
        </p:txBody>
      </p:sp>
      <p:sp>
        <p:nvSpPr>
          <p:cNvPr id="13" name="stat ceiling label"/>
          <p:cNvSpPr txBox="1"/>
          <p:nvPr/>
        </p:nvSpPr>
        <p:spPr>
          <a:xfrm>
            <a:off x="5440680" y="3090672"/>
            <a:ext cx="310896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pool Recall@20: the reranker's ceiling</a:t>
            </a:r>
          </a:p>
        </p:txBody>
      </p:sp>
      <p:sp>
        <p:nvSpPr>
          <p:cNvPr id="14" name="stat refusal card"/>
          <p:cNvSpPr/>
          <p:nvPr/>
        </p:nvSpPr>
        <p:spPr>
          <a:xfrm>
            <a:off x="5303520" y="347472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refusal number"/>
          <p:cNvSpPr txBox="1"/>
          <p:nvPr/>
        </p:nvSpPr>
        <p:spPr>
          <a:xfrm>
            <a:off x="5440680" y="3621691"/>
            <a:ext cx="31089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E8B57"/>
                </a:solidFill>
                <a:latin typeface="Cambria"/>
              </a:rPr>
              <a:t>0.2</a:t>
            </a:r>
            <a:r>
              <a:rPr lang="en-US" sz="3200" b="1" i="0">
                <a:solidFill>
                  <a:srgbClr val="2E8B57"/>
                </a:solidFill>
                <a:latin typeface="Cambria"/>
              </a:rPr>
              <a:t>5</a:t>
            </a:r>
            <a:endParaRPr sz="3200" b="1" i="0">
              <a:solidFill>
                <a:srgbClr val="2E8B57"/>
              </a:solidFill>
              <a:latin typeface="Cambria"/>
            </a:endParaRPr>
          </a:p>
        </p:txBody>
      </p:sp>
      <p:sp>
        <p:nvSpPr>
          <p:cNvPr id="16" name="stat refusal label"/>
          <p:cNvSpPr txBox="1"/>
          <p:nvPr/>
        </p:nvSpPr>
        <p:spPr>
          <a:xfrm>
            <a:off x="5440680" y="4187952"/>
            <a:ext cx="310896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B3 over-refusal, against 0.08 for A3</a:t>
            </a:r>
          </a:p>
        </p:txBody>
      </p:sp>
      <p:sp>
        <p:nvSpPr>
          <p:cNvPr id="4" name="chart caption"/>
          <p:cNvSpPr txBox="1"/>
          <p:nvPr/>
        </p:nvSpPr>
        <p:spPr>
          <a:xfrm>
            <a:off x="640080" y="4096512"/>
            <a:ext cx="420624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5B6B82"/>
                </a:solidFill>
              </a:rPr>
              <a:t>Correctness, </a:t>
            </a:r>
            <a:r>
              <a:rPr lang="en-US" sz="1300" b="0" i="0">
                <a:solidFill>
                  <a:srgbClr val="5B6B82"/>
                </a:solidFill>
              </a:rPr>
              <a:t>5</a:t>
            </a:r>
            <a:r>
              <a:rPr sz="1300" b="0" i="0">
                <a:solidFill>
                  <a:srgbClr val="5B6B82"/>
                </a:solidFill>
              </a:rPr>
              <a:t>0  items. No single step is significant.</a:t>
            </a:r>
          </a:p>
        </p:txBody>
      </p:sp>
      <p:graphicFrame>
        <p:nvGraphicFramePr>
          <p:cNvPr id="17" name="dev correctness by confi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58289"/>
              </p:ext>
            </p:extLst>
          </p:nvPr>
        </p:nvGraphicFramePr>
        <p:xfrm>
          <a:off x="548640" y="1371600"/>
          <a:ext cx="4389120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The golden set and the split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15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golden chart card"/>
          <p:cNvSpPr/>
          <p:nvPr/>
        </p:nvSpPr>
        <p:spPr>
          <a:xfrm>
            <a:off x="457200" y="1280160"/>
            <a:ext cx="4572000" cy="3246120"/>
          </a:xfrm>
          <a:prstGeom prst="roundRect">
            <a:avLst>
              <a:gd name="adj" fmla="val 2253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golden set by category" descr="Golden items by category: single_hop 18, multi_hop 7, comparative 5, temporal 5, unanswerable 10, ambiguous 5"/>
          <p:cNvGraphicFramePr>
            <a:graphicFrameLocks noGrp="1"/>
          </p:cNvGraphicFramePr>
          <p:nvPr/>
        </p:nvGraphicFramePr>
        <p:xfrm>
          <a:off x="548640" y="1371600"/>
          <a:ext cx="438912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 items card"/>
          <p:cNvSpPr/>
          <p:nvPr/>
        </p:nvSpPr>
        <p:spPr>
          <a:xfrm>
            <a:off x="5303520" y="128016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stat items number"/>
          <p:cNvSpPr txBox="1"/>
          <p:nvPr/>
        </p:nvSpPr>
        <p:spPr>
          <a:xfrm>
            <a:off x="5440680" y="135331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D9480F"/>
                </a:solidFill>
                <a:latin typeface="Cambria"/>
              </a:rPr>
              <a:t>50</a:t>
            </a:r>
          </a:p>
        </p:txBody>
      </p:sp>
      <p:sp>
        <p:nvSpPr>
          <p:cNvPr id="10" name="stat items label"/>
          <p:cNvSpPr txBox="1"/>
          <p:nvPr/>
        </p:nvSpPr>
        <p:spPr>
          <a:xfrm>
            <a:off x="5440680" y="1993391"/>
            <a:ext cx="310896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questions, every quote found</a:t>
            </a:r>
          </a:p>
        </p:txBody>
      </p:sp>
      <p:sp>
        <p:nvSpPr>
          <p:cNvPr id="11" name="stat split card"/>
          <p:cNvSpPr/>
          <p:nvPr/>
        </p:nvSpPr>
        <p:spPr>
          <a:xfrm>
            <a:off x="5303520" y="237744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tat split number"/>
          <p:cNvSpPr txBox="1"/>
          <p:nvPr/>
        </p:nvSpPr>
        <p:spPr>
          <a:xfrm>
            <a:off x="5440680" y="245059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F6FB5"/>
                </a:solidFill>
                <a:latin typeface="Cambria"/>
              </a:rPr>
              <a:t>30 / 20</a:t>
            </a:r>
          </a:p>
        </p:txBody>
      </p:sp>
      <p:sp>
        <p:nvSpPr>
          <p:cNvPr id="13" name="stat split label"/>
          <p:cNvSpPr txBox="1"/>
          <p:nvPr/>
        </p:nvSpPr>
        <p:spPr>
          <a:xfrm>
            <a:off x="5440680" y="3090672"/>
            <a:ext cx="310896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dev and test, seed 42</a:t>
            </a:r>
          </a:p>
        </p:txBody>
      </p:sp>
      <p:sp>
        <p:nvSpPr>
          <p:cNvPr id="14" name="stat verified card"/>
          <p:cNvSpPr/>
          <p:nvPr/>
        </p:nvSpPr>
        <p:spPr>
          <a:xfrm>
            <a:off x="5303520" y="3474720"/>
            <a:ext cx="3383280" cy="1051560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tat verified number"/>
          <p:cNvSpPr txBox="1"/>
          <p:nvPr/>
        </p:nvSpPr>
        <p:spPr>
          <a:xfrm>
            <a:off x="5440680" y="3547872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>
                <a:solidFill>
                  <a:srgbClr val="2E8B57"/>
                </a:solidFill>
                <a:latin typeface="Cambria"/>
              </a:rPr>
              <a:t>50 / 50</a:t>
            </a:r>
          </a:p>
        </p:txBody>
      </p:sp>
      <p:sp>
        <p:nvSpPr>
          <p:cNvPr id="16" name="stat verified label"/>
          <p:cNvSpPr txBox="1"/>
          <p:nvPr/>
        </p:nvSpPr>
        <p:spPr>
          <a:xfrm>
            <a:off x="5440680" y="4187952"/>
            <a:ext cx="3108960" cy="274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0B1F3A"/>
                </a:solidFill>
              </a:rPr>
              <a:t>verified by teammates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F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777240"/>
          </a:xfrm>
        </p:spPr>
        <p:txBody>
          <a:bodyPr wrap="square" lIns="0" tIns="0" rIns="0" bIns="0" anchor="ctr"/>
          <a:lstStyle/>
          <a:p>
            <a:pPr algn="l"/>
            <a:r>
              <a:rPr sz="3200" b="1" i="0">
                <a:solidFill>
                  <a:srgbClr val="0B1F3A"/>
                </a:solidFill>
                <a:latin typeface="Cambria"/>
              </a:rPr>
              <a:t>Ethics and safeguards, with evidence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457200" y="4773168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5B6B82"/>
                </a:solidFill>
              </a:rPr>
              <a:t>SkyRules AI  |  Team presentation</a:t>
            </a:r>
          </a:p>
        </p:txBody>
      </p:sp>
      <p:sp>
        <p:nvSpPr>
          <p:cNvPr id="5" name="slide number"/>
          <p:cNvSpPr txBox="1"/>
          <p:nvPr/>
        </p:nvSpPr>
        <p:spPr>
          <a:xfrm>
            <a:off x="8229600" y="4773168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B6F15528-21DE-4FAA-801E-634DDDAF4B2B}" type="slidenum">
              <a:rPr lang="en-US" sz="1000">
                <a:solidFill>
                  <a:srgbClr val="5B6B82"/>
                </a:solidFill>
              </a:rPr>
              <a:t>16</a:t>
            </a:fld>
            <a:endParaRPr lang="en-US" sz="1000">
              <a:solidFill>
                <a:srgbClr val="5B6B82"/>
              </a:solidFill>
            </a:endParaRPr>
          </a:p>
        </p:txBody>
      </p:sp>
      <p:sp>
        <p:nvSpPr>
          <p:cNvPr id="6" name="ethics card 1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ethics 1 circle"/>
          <p:cNvSpPr/>
          <p:nvPr/>
        </p:nvSpPr>
        <p:spPr>
          <a:xfrm>
            <a:off x="594360" y="1417319"/>
            <a:ext cx="502920" cy="502920"/>
          </a:xfrm>
          <a:prstGeom prst="ellipse">
            <a:avLst/>
          </a:prstGeom>
          <a:solidFill>
            <a:srgbClr val="2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ethics 1 icon" descr="Crawl etiquet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" y="1532991"/>
            <a:ext cx="271576" cy="271576"/>
          </a:xfrm>
          <a:prstGeom prst="rect">
            <a:avLst/>
          </a:prstGeom>
        </p:spPr>
      </p:pic>
      <p:sp>
        <p:nvSpPr>
          <p:cNvPr id="9" name="ethics title 1"/>
          <p:cNvSpPr txBox="1"/>
          <p:nvPr/>
        </p:nvSpPr>
        <p:spPr>
          <a:xfrm>
            <a:off x="1188720" y="1417319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Crawl etiquette</a:t>
            </a:r>
          </a:p>
        </p:txBody>
      </p:sp>
      <p:sp>
        <p:nvSpPr>
          <p:cNvPr id="10" name="ethics text 1"/>
          <p:cNvSpPr txBox="1"/>
          <p:nvPr/>
        </p:nvSpPr>
        <p:spPr>
          <a:xfrm>
            <a:off x="594360" y="2029967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robots.txt in code, 1 request per second</a:t>
            </a:r>
          </a:p>
        </p:txBody>
      </p:sp>
      <p:sp>
        <p:nvSpPr>
          <p:cNvPr id="11" name="ethics card 2"/>
          <p:cNvSpPr/>
          <p:nvPr/>
        </p:nvSpPr>
        <p:spPr>
          <a:xfrm>
            <a:off x="3264408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ethics 2 circle"/>
          <p:cNvSpPr/>
          <p:nvPr/>
        </p:nvSpPr>
        <p:spPr>
          <a:xfrm>
            <a:off x="3401568" y="1417319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ethics 2 icon" descr="PII remov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7239" y="1532991"/>
            <a:ext cx="271576" cy="271576"/>
          </a:xfrm>
          <a:prstGeom prst="rect">
            <a:avLst/>
          </a:prstGeom>
        </p:spPr>
      </p:pic>
      <p:sp>
        <p:nvSpPr>
          <p:cNvPr id="14" name="ethics title 2"/>
          <p:cNvSpPr txBox="1"/>
          <p:nvPr/>
        </p:nvSpPr>
        <p:spPr>
          <a:xfrm>
            <a:off x="3995928" y="1417319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PII removed</a:t>
            </a:r>
          </a:p>
        </p:txBody>
      </p:sp>
      <p:sp>
        <p:nvSpPr>
          <p:cNvPr id="15" name="ethics text 2"/>
          <p:cNvSpPr txBox="1"/>
          <p:nvPr/>
        </p:nvSpPr>
        <p:spPr>
          <a:xfrm>
            <a:off x="3401568" y="2029967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18 phones, 60 addresses, 18 emails</a:t>
            </a:r>
          </a:p>
        </p:txBody>
      </p:sp>
      <p:sp>
        <p:nvSpPr>
          <p:cNvPr id="16" name="ethics card 3"/>
          <p:cNvSpPr/>
          <p:nvPr/>
        </p:nvSpPr>
        <p:spPr>
          <a:xfrm>
            <a:off x="6071616" y="128016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ethics 3 circle"/>
          <p:cNvSpPr/>
          <p:nvPr/>
        </p:nvSpPr>
        <p:spPr>
          <a:xfrm>
            <a:off x="6208776" y="1417319"/>
            <a:ext cx="502920" cy="50292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ethics 3 icon" descr="Injection defen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447" y="1532991"/>
            <a:ext cx="271576" cy="271576"/>
          </a:xfrm>
          <a:prstGeom prst="rect">
            <a:avLst/>
          </a:prstGeom>
        </p:spPr>
      </p:pic>
      <p:sp>
        <p:nvSpPr>
          <p:cNvPr id="19" name="ethics title 3"/>
          <p:cNvSpPr txBox="1"/>
          <p:nvPr/>
        </p:nvSpPr>
        <p:spPr>
          <a:xfrm>
            <a:off x="6803136" y="1417319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Injection defense</a:t>
            </a:r>
          </a:p>
        </p:txBody>
      </p:sp>
      <p:sp>
        <p:nvSpPr>
          <p:cNvPr id="20" name="ethics text 3"/>
          <p:cNvSpPr txBox="1"/>
          <p:nvPr/>
        </p:nvSpPr>
        <p:spPr>
          <a:xfrm>
            <a:off x="6208776" y="2029967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router strips it, passages are untrusted</a:t>
            </a:r>
          </a:p>
        </p:txBody>
      </p:sp>
      <p:sp>
        <p:nvSpPr>
          <p:cNvPr id="21" name="ethics card 4"/>
          <p:cNvSpPr/>
          <p:nvPr/>
        </p:nvSpPr>
        <p:spPr>
          <a:xfrm>
            <a:off x="457200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thics 4 circle"/>
          <p:cNvSpPr/>
          <p:nvPr/>
        </p:nvSpPr>
        <p:spPr>
          <a:xfrm>
            <a:off x="594360" y="3108960"/>
            <a:ext cx="502920" cy="502920"/>
          </a:xfrm>
          <a:prstGeom prst="ellipse">
            <a:avLst/>
          </a:prstGeom>
          <a:solidFill>
            <a:srgbClr val="5B6B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ethics 4 icon" descr="Content 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031" y="3224631"/>
            <a:ext cx="271576" cy="271576"/>
          </a:xfrm>
          <a:prstGeom prst="rect">
            <a:avLst/>
          </a:prstGeom>
        </p:spPr>
      </p:pic>
      <p:sp>
        <p:nvSpPr>
          <p:cNvPr id="24" name="ethics title 4"/>
          <p:cNvSpPr txBox="1"/>
          <p:nvPr/>
        </p:nvSpPr>
        <p:spPr>
          <a:xfrm>
            <a:off x="1188720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Content age</a:t>
            </a:r>
          </a:p>
        </p:txBody>
      </p:sp>
      <p:sp>
        <p:nvSpPr>
          <p:cNvPr id="25" name="ethics text 4"/>
          <p:cNvSpPr txBox="1"/>
          <p:nvPr/>
        </p:nvSpPr>
        <p:spPr>
          <a:xfrm>
            <a:off x="594360" y="372160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dates shown; one stale page found</a:t>
            </a:r>
          </a:p>
        </p:txBody>
      </p:sp>
      <p:sp>
        <p:nvSpPr>
          <p:cNvPr id="26" name="ethics card 5"/>
          <p:cNvSpPr/>
          <p:nvPr/>
        </p:nvSpPr>
        <p:spPr>
          <a:xfrm>
            <a:off x="3264408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ethics 5 circle"/>
          <p:cNvSpPr/>
          <p:nvPr/>
        </p:nvSpPr>
        <p:spPr>
          <a:xfrm>
            <a:off x="3401568" y="3108960"/>
            <a:ext cx="502920" cy="502920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ethics 5 icon" descr="Overrelian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7239" y="3224631"/>
            <a:ext cx="271576" cy="271576"/>
          </a:xfrm>
          <a:prstGeom prst="rect">
            <a:avLst/>
          </a:prstGeom>
        </p:spPr>
      </p:pic>
      <p:sp>
        <p:nvSpPr>
          <p:cNvPr id="29" name="ethics title 5"/>
          <p:cNvSpPr txBox="1"/>
          <p:nvPr/>
        </p:nvSpPr>
        <p:spPr>
          <a:xfrm>
            <a:off x="3995928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Overreliance</a:t>
            </a:r>
          </a:p>
        </p:txBody>
      </p:sp>
      <p:sp>
        <p:nvSpPr>
          <p:cNvPr id="30" name="ethics text 5"/>
          <p:cNvSpPr txBox="1"/>
          <p:nvPr/>
        </p:nvSpPr>
        <p:spPr>
          <a:xfrm>
            <a:off x="3401568" y="372160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banner, citations, FAA referrals</a:t>
            </a:r>
          </a:p>
        </p:txBody>
      </p:sp>
      <p:sp>
        <p:nvSpPr>
          <p:cNvPr id="31" name="ethics card 6"/>
          <p:cNvSpPr/>
          <p:nvPr/>
        </p:nvSpPr>
        <p:spPr>
          <a:xfrm>
            <a:off x="6071616" y="2971800"/>
            <a:ext cx="26517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B1F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ethics 6 circle"/>
          <p:cNvSpPr/>
          <p:nvPr/>
        </p:nvSpPr>
        <p:spPr>
          <a:xfrm>
            <a:off x="6208776" y="3108960"/>
            <a:ext cx="502920" cy="502920"/>
          </a:xfrm>
          <a:prstGeom prst="ellipse">
            <a:avLst/>
          </a:prstGeom>
          <a:solidFill>
            <a:srgbClr val="F2B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ethics 6 icon" descr="Two safeguards in cod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447" y="3224631"/>
            <a:ext cx="271576" cy="271576"/>
          </a:xfrm>
          <a:prstGeom prst="rect">
            <a:avLst/>
          </a:prstGeom>
        </p:spPr>
      </p:pic>
      <p:sp>
        <p:nvSpPr>
          <p:cNvPr id="34" name="ethics title 6"/>
          <p:cNvSpPr txBox="1"/>
          <p:nvPr/>
        </p:nvSpPr>
        <p:spPr>
          <a:xfrm>
            <a:off x="6803136" y="3108960"/>
            <a:ext cx="1828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</a:rPr>
              <a:t>Two safeguards in code</a:t>
            </a:r>
          </a:p>
        </p:txBody>
      </p:sp>
      <p:sp>
        <p:nvSpPr>
          <p:cNvPr id="35" name="ethics text 6"/>
          <p:cNvSpPr txBox="1"/>
          <p:nvPr/>
        </p:nvSpPr>
        <p:spPr>
          <a:xfrm>
            <a:off x="6208776" y="3721608"/>
            <a:ext cx="2377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B6B82"/>
                </a:solidFill>
              </a:rPr>
              <a:t>crawl + PII; citations + quote limit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1051560"/>
            <a:ext cx="5486400" cy="822960"/>
          </a:xfrm>
        </p:spPr>
        <p:txBody>
          <a:bodyPr lIns="0" tIns="0" anchor="ctr"/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ring"/>
          <p:cNvSpPr/>
          <p:nvPr/>
        </p:nvSpPr>
        <p:spPr>
          <a:xfrm>
            <a:off x="5669280" y="1005839"/>
            <a:ext cx="3108960" cy="3108960"/>
          </a:xfrm>
          <a:prstGeom prst="ellipse">
            <a:avLst/>
          </a:prstGeom>
          <a:noFill/>
          <a:ln w="19050">
            <a:solidFill>
              <a:srgbClr val="8FB8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ing"/>
          <p:cNvSpPr/>
          <p:nvPr/>
        </p:nvSpPr>
        <p:spPr>
          <a:xfrm>
            <a:off x="6080760" y="1417319"/>
            <a:ext cx="2286000" cy="2286000"/>
          </a:xfrm>
          <a:prstGeom prst="ellipse">
            <a:avLst/>
          </a:prstGeom>
          <a:noFill/>
          <a:ln w="19050">
            <a:solidFill>
              <a:srgbClr val="8FB8E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ing"/>
          <p:cNvSpPr/>
          <p:nvPr/>
        </p:nvSpPr>
        <p:spPr>
          <a:xfrm>
            <a:off x="6492240" y="1828799"/>
            <a:ext cx="1463040" cy="1463040"/>
          </a:xfrm>
          <a:prstGeom prst="ellipse">
            <a:avLst/>
          </a:prstGeom>
          <a:noFill/>
          <a:ln w="19050">
            <a:solidFill>
              <a:srgbClr val="D9480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rone marker circle"/>
          <p:cNvSpPr/>
          <p:nvPr/>
        </p:nvSpPr>
        <p:spPr>
          <a:xfrm>
            <a:off x="6949440" y="2286000"/>
            <a:ext cx="548640" cy="548640"/>
          </a:xfrm>
          <a:prstGeom prst="ellipse">
            <a:avLst/>
          </a:prstGeom>
          <a:solidFill>
            <a:srgbClr val="D94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drone marker icon" descr="Drone on airspace ring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627" y="2412187"/>
            <a:ext cx="296265" cy="296265"/>
          </a:xfrm>
          <a:prstGeom prst="rect">
            <a:avLst/>
          </a:prstGeom>
        </p:spPr>
      </p:pic>
      <p:sp>
        <p:nvSpPr>
          <p:cNvPr id="8" name="subtitle"/>
          <p:cNvSpPr txBox="1"/>
          <p:nvPr/>
        </p:nvSpPr>
        <p:spPr>
          <a:xfrm>
            <a:off x="548640" y="1920240"/>
            <a:ext cx="5486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8FB8E8"/>
                </a:solidFill>
              </a:rPr>
              <a:t>Questions?</a:t>
            </a:r>
          </a:p>
        </p:txBody>
      </p:sp>
      <p:sp>
        <p:nvSpPr>
          <p:cNvPr id="9" name="team"/>
          <p:cNvSpPr txBox="1"/>
          <p:nvPr/>
        </p:nvSpPr>
        <p:spPr>
          <a:xfrm>
            <a:off x="548640" y="3108960"/>
            <a:ext cx="5486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</a:rPr>
              <a:t>Pavan  |  Dorai  |  Nayan  |  Sai  |  Adinath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FFFFFF"/>
                </a:solidFill>
              </a:rPr>
              <a:t>MSAI 633 residency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Rules">
  <a:themeElements>
    <a:clrScheme name="SkyRules">
      <a:dk1>
        <a:srgbClr val="0B1F3A"/>
      </a:dk1>
      <a:lt1>
        <a:srgbClr val="FFFFFF"/>
      </a:lt1>
      <a:dk2>
        <a:srgbClr val="13315C"/>
      </a:dk2>
      <a:lt2>
        <a:srgbClr val="E7EFF8"/>
      </a:lt2>
      <a:accent1>
        <a:srgbClr val="D9480F"/>
      </a:accent1>
      <a:accent2>
        <a:srgbClr val="2F6FB5"/>
      </a:accent2>
      <a:accent3>
        <a:srgbClr val="2E8B57"/>
      </a:accent3>
      <a:accent4>
        <a:srgbClr val="F2B84B"/>
      </a:accent4>
      <a:accent5>
        <a:srgbClr val="5B6B82"/>
      </a:accent5>
      <a:accent6>
        <a:srgbClr val="8FB8E8"/>
      </a:accent6>
      <a:hlink>
        <a:srgbClr val="2F6FB5"/>
      </a:hlink>
      <a:folHlink>
        <a:srgbClr val="5B6B82"/>
      </a:folHlink>
    </a:clrScheme>
    <a:fontScheme name="SkyRules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971</Words>
  <Application>Microsoft Macintosh PowerPoint</Application>
  <PresentationFormat>On-screen Show (16:9)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SkyRules</vt:lpstr>
      <vt:lpstr>SkyRules AI</vt:lpstr>
      <vt:lpstr>A wrong answer with a real link looks verified</vt:lpstr>
      <vt:lpstr>Five people, five owned parts</vt:lpstr>
      <vt:lpstr>What it answers from: 160 documents</vt:lpstr>
      <vt:lpstr>Crawling politely, and what went wrong</vt:lpstr>
      <vt:lpstr>From messy pages to clean, safe text</vt:lpstr>
      <vt:lpstr>Two ways to cut text into chunks</vt:lpstr>
      <vt:lpstr>Finding the right passages</vt:lpstr>
      <vt:lpstr>Embeddings, vector database, clean migration</vt:lpstr>
      <vt:lpstr>One question, end to end</vt:lpstr>
      <vt:lpstr>Answering only from the evidence</vt:lpstr>
      <vt:lpstr>Safety router: five kinds of question</vt:lpstr>
      <vt:lpstr>How we measure it: seven configurations</vt:lpstr>
      <vt:lpstr>Results: what each change did</vt:lpstr>
      <vt:lpstr>The golden set and the split</vt:lpstr>
      <vt:lpstr>Ethics and safeguards, with evidence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SkyRules AI: team presentation</dc:title>
  <dc:subject>MSAI 633 residency project</dc:subject>
  <dc:creator>SkyRules team</dc:creator>
  <cp:keywords/>
  <dc:description>generated using python-pptx</dc:description>
  <cp:lastModifiedBy>Nayan Sathvik Bukkapatnam</cp:lastModifiedBy>
  <cp:revision>12</cp:revision>
  <dcterms:created xsi:type="dcterms:W3CDTF">2013-01-27T09:14:16Z</dcterms:created>
  <dcterms:modified xsi:type="dcterms:W3CDTF">2026-10-11T15:31:55Z</dcterms:modified>
  <cp:category/>
</cp:coreProperties>
</file>